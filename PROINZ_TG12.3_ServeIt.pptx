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7" r:id="rId1"/>
    <p:sldMasterId id="2147483696" r:id="rId2"/>
  </p:sldMasterIdLst>
  <p:notesMasterIdLst>
    <p:notesMasterId r:id="rId20"/>
  </p:notesMasterIdLst>
  <p:sldIdLst>
    <p:sldId id="265" r:id="rId3"/>
    <p:sldId id="257" r:id="rId4"/>
    <p:sldId id="266" r:id="rId5"/>
    <p:sldId id="267" r:id="rId6"/>
    <p:sldId id="268" r:id="rId7"/>
    <p:sldId id="276" r:id="rId8"/>
    <p:sldId id="277" r:id="rId9"/>
    <p:sldId id="269" r:id="rId10"/>
    <p:sldId id="261" r:id="rId11"/>
    <p:sldId id="275" r:id="rId12"/>
    <p:sldId id="278" r:id="rId13"/>
    <p:sldId id="279" r:id="rId14"/>
    <p:sldId id="280" r:id="rId15"/>
    <p:sldId id="281" r:id="rId16"/>
    <p:sldId id="274" r:id="rId17"/>
    <p:sldId id="263" r:id="rId18"/>
    <p:sldId id="264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05" autoAdjust="0"/>
    <p:restoredTop sz="97366" autoAdjust="0"/>
  </p:normalViewPr>
  <p:slideViewPr>
    <p:cSldViewPr snapToGrid="0">
      <p:cViewPr varScale="1">
        <p:scale>
          <a:sx n="106" d="100"/>
          <a:sy n="106" d="100"/>
        </p:scale>
        <p:origin x="1704" y="114"/>
      </p:cViewPr>
      <p:guideLst/>
    </p:cSldViewPr>
  </p:slideViewPr>
  <p:outlineViewPr>
    <p:cViewPr>
      <p:scale>
        <a:sx n="33" d="100"/>
        <a:sy n="33" d="100"/>
      </p:scale>
      <p:origin x="0" y="-4548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7596D4-CB16-4BAD-83F6-7E8077D61F81}" type="datetimeFigureOut">
              <a:rPr lang="hr-HR" smtClean="0"/>
              <a:t>23.1.2026.</a:t>
            </a:fld>
            <a:endParaRPr lang="hr-H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r-H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45738E-9CB8-443D-AC33-32367D542132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940785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1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9068979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3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6403413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 list no need to elaborate in this stage!</a:t>
            </a:r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4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5702015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Navedite samo svoju viziju projektne ideje...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5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51088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ight Triangle 32">
            <a:extLst>
              <a:ext uri="{FF2B5EF4-FFF2-40B4-BE49-F238E27FC236}">
                <a16:creationId xmlns:a16="http://schemas.microsoft.com/office/drawing/2014/main" id="{2A737799-F072-47E1-A678-5CE12F097D06}"/>
              </a:ext>
            </a:extLst>
          </p:cNvPr>
          <p:cNvSpPr/>
          <p:nvPr/>
        </p:nvSpPr>
        <p:spPr>
          <a:xfrm flipH="1">
            <a:off x="4496837" y="4722829"/>
            <a:ext cx="4644854" cy="2135171"/>
          </a:xfrm>
          <a:prstGeom prst="rtTriangle">
            <a:avLst/>
          </a:prstGeom>
          <a:blipFill dpi="0" rotWithShape="0">
            <a:blip r:embed="rId2"/>
            <a:srcRect/>
            <a:tile tx="0" ty="-393700" sx="100000" sy="100000" flip="none" algn="tl"/>
          </a:blip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6308" y="3685740"/>
            <a:ext cx="7772400" cy="1541283"/>
          </a:xfrm>
        </p:spPr>
        <p:txBody>
          <a:bodyPr lIns="252000" tIns="46800" rIns="252000" anchor="ctr">
            <a:normAutofit/>
          </a:bodyPr>
          <a:lstStyle>
            <a:lvl1pPr algn="ctr">
              <a:defRPr lang="en-US" sz="2800" b="0" kern="1200" cap="all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0A13A86-3F68-4CBB-B661-B96A001B15BE}"/>
              </a:ext>
            </a:extLst>
          </p:cNvPr>
          <p:cNvGrpSpPr/>
          <p:nvPr/>
        </p:nvGrpSpPr>
        <p:grpSpPr>
          <a:xfrm>
            <a:off x="0" y="0"/>
            <a:ext cx="1370309" cy="6858000"/>
            <a:chOff x="0" y="0"/>
            <a:chExt cx="1370309" cy="6858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22AA1C2-ED49-4B0D-9C5A-6D47DFC70771}"/>
                </a:ext>
              </a:extLst>
            </p:cNvPr>
            <p:cNvSpPr/>
            <p:nvPr userDrawn="1"/>
          </p:nvSpPr>
          <p:spPr>
            <a:xfrm>
              <a:off x="0" y="0"/>
              <a:ext cx="342900" cy="6858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4FC8746-DFC2-4DDF-B034-CED2ACE15704}"/>
                </a:ext>
              </a:extLst>
            </p:cNvPr>
            <p:cNvSpPr/>
            <p:nvPr userDrawn="1"/>
          </p:nvSpPr>
          <p:spPr>
            <a:xfrm rot="16200000">
              <a:off x="514859" y="-512550"/>
              <a:ext cx="342900" cy="1368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94884E1-E6D8-48CB-B7A9-438FB51C78F5}"/>
                </a:ext>
              </a:extLst>
            </p:cNvPr>
            <p:cNvSpPr/>
            <p:nvPr userDrawn="1"/>
          </p:nvSpPr>
          <p:spPr>
            <a:xfrm rot="16200000">
              <a:off x="514859" y="6002550"/>
              <a:ext cx="342900" cy="1368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4" name="Picture 13" descr="A close up of a logo&#10;&#10;Description automatically generated">
            <a:extLst>
              <a:ext uri="{FF2B5EF4-FFF2-40B4-BE49-F238E27FC236}">
                <a16:creationId xmlns:a16="http://schemas.microsoft.com/office/drawing/2014/main" id="{32F5CBCA-0AB8-4B6A-8A03-C549C7F3AE3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79000"/>
          </a:blip>
          <a:srcRect l="13474" t="23715" r="15700" b="21450"/>
          <a:stretch/>
        </p:blipFill>
        <p:spPr>
          <a:xfrm>
            <a:off x="7499927" y="308066"/>
            <a:ext cx="1416947" cy="684000"/>
          </a:xfrm>
          <a:prstGeom prst="rect">
            <a:avLst/>
          </a:prstGeom>
        </p:spPr>
      </p:pic>
      <p:pic>
        <p:nvPicPr>
          <p:cNvPr id="16" name="Picture 15" descr="A screenshot of a video game&#10;&#10;Description automatically generated">
            <a:extLst>
              <a:ext uri="{FF2B5EF4-FFF2-40B4-BE49-F238E27FC236}">
                <a16:creationId xmlns:a16="http://schemas.microsoft.com/office/drawing/2014/main" id="{304A50E9-593B-484E-BBFD-7D99ADECD2F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772"/>
          <a:stretch/>
        </p:blipFill>
        <p:spPr>
          <a:xfrm>
            <a:off x="629310" y="543433"/>
            <a:ext cx="2495116" cy="246346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E779F65-BFE6-4D96-B824-8575890A4185}"/>
              </a:ext>
            </a:extLst>
          </p:cNvPr>
          <p:cNvSpPr txBox="1"/>
          <p:nvPr/>
        </p:nvSpPr>
        <p:spPr>
          <a:xfrm>
            <a:off x="6299200" y="1668720"/>
            <a:ext cx="3155393" cy="64344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marL="0" algn="l" defTabSz="457200" rtl="0" eaLnBrk="1" latinLnBrk="0" hangingPunct="1">
              <a:lnSpc>
                <a:spcPct val="110000"/>
              </a:lnSpc>
            </a:pPr>
            <a:r>
              <a:rPr lang="hr-HR" sz="1700" b="1" kern="1200" cap="small" noProof="0" dirty="0">
                <a:solidFill>
                  <a:srgbClr val="363636"/>
                </a:solidFill>
                <a:latin typeface="Century Gothic" panose="020B0502020202020204" pitchFamily="34" charset="0"/>
                <a:ea typeface="+mn-ea"/>
                <a:cs typeface="+mn-cs"/>
              </a:rPr>
              <a:t>Programsko inženjerstvo</a:t>
            </a:r>
          </a:p>
          <a:p>
            <a:pPr marL="0" algn="l" defTabSz="457200" rtl="0" eaLnBrk="1" latinLnBrk="0" hangingPunct="1">
              <a:lnSpc>
                <a:spcPct val="110000"/>
              </a:lnSpc>
            </a:pPr>
            <a:r>
              <a:rPr lang="hr-HR" sz="1700" b="1" kern="1200" cap="small" dirty="0">
                <a:solidFill>
                  <a:srgbClr val="363636"/>
                </a:solidFill>
                <a:latin typeface="Century Gothic" panose="020B0502020202020204" pitchFamily="34" charset="0"/>
                <a:ea typeface="+mn-ea"/>
                <a:cs typeface="+mn-cs"/>
              </a:rPr>
              <a:t>ID 183400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54D68C4-3DFA-4D90-89DF-550D8FB0DB2C}"/>
              </a:ext>
            </a:extLst>
          </p:cNvPr>
          <p:cNvGrpSpPr/>
          <p:nvPr/>
        </p:nvGrpSpPr>
        <p:grpSpPr>
          <a:xfrm>
            <a:off x="8541834" y="2712985"/>
            <a:ext cx="602166" cy="689744"/>
            <a:chOff x="8541834" y="2712985"/>
            <a:chExt cx="602166" cy="689744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891C753-BAAB-4424-9E32-3F1432529749}"/>
                </a:ext>
              </a:extLst>
            </p:cNvPr>
            <p:cNvSpPr/>
            <p:nvPr userDrawn="1"/>
          </p:nvSpPr>
          <p:spPr>
            <a:xfrm>
              <a:off x="9000000" y="2718729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86BC744-DC4B-4A55-B6FA-A711EC8ACF52}"/>
                </a:ext>
              </a:extLst>
            </p:cNvPr>
            <p:cNvSpPr/>
            <p:nvPr userDrawn="1"/>
          </p:nvSpPr>
          <p:spPr>
            <a:xfrm>
              <a:off x="8772874" y="2718729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0AA3319-80CC-4953-81CC-A4C7D5063739}"/>
                </a:ext>
              </a:extLst>
            </p:cNvPr>
            <p:cNvSpPr/>
            <p:nvPr userDrawn="1"/>
          </p:nvSpPr>
          <p:spPr>
            <a:xfrm>
              <a:off x="8541834" y="2712985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Graphic 3">
            <a:extLst>
              <a:ext uri="{FF2B5EF4-FFF2-40B4-BE49-F238E27FC236}">
                <a16:creationId xmlns:a16="http://schemas.microsoft.com/office/drawing/2014/main" id="{9B169C9B-ABD9-49DB-8ECD-EBB51008CF4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40606" t="17629" r="15252" b="19248"/>
          <a:stretch/>
        </p:blipFill>
        <p:spPr>
          <a:xfrm>
            <a:off x="6472518" y="270901"/>
            <a:ext cx="836453" cy="82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B217BDC-58CC-FADA-1B39-623F12755E0B}"/>
              </a:ext>
            </a:extLst>
          </p:cNvPr>
          <p:cNvSpPr txBox="1"/>
          <p:nvPr userDrawn="1"/>
        </p:nvSpPr>
        <p:spPr>
          <a:xfrm>
            <a:off x="2757249" y="3212658"/>
            <a:ext cx="33702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r-HR" sz="2000" b="0" kern="1200" cap="all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rPr>
              <a:t>Prezentacija</a:t>
            </a:r>
            <a:r>
              <a:rPr lang="hr-HR" sz="2000" noProof="0" dirty="0">
                <a:latin typeface="Franklin Gothic Demi" panose="020B0703020102020204" pitchFamily="34" charset="0"/>
              </a:rPr>
              <a:t> </a:t>
            </a:r>
            <a:r>
              <a:rPr lang="hr-HR" sz="2000" b="0" kern="1200" cap="all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rPr>
              <a:t>projekta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7A7A9A7D-F6F6-0F08-90E6-4F20750E97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292" y="5227023"/>
            <a:ext cx="7772400" cy="590321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 cap="none">
                <a:solidFill>
                  <a:schemeClr val="tx1"/>
                </a:solidFill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177211245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blipFill dpi="0" rotWithShape="1">
          <a:blip r:embed="rId2">
            <a:alphaModFix amt="10000"/>
            <a:lum/>
          </a:blip>
          <a:srcRect/>
          <a:stretch>
            <a:fillRect l="85000" t="93000" r="1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9D65BC3-0390-487E-9343-57013C37910B}"/>
              </a:ext>
            </a:extLst>
          </p:cNvPr>
          <p:cNvGrpSpPr/>
          <p:nvPr/>
        </p:nvGrpSpPr>
        <p:grpSpPr>
          <a:xfrm>
            <a:off x="0" y="0"/>
            <a:ext cx="1370309" cy="6858000"/>
            <a:chOff x="0" y="0"/>
            <a:chExt cx="1370309" cy="6858000"/>
          </a:xfrm>
          <a:solidFill>
            <a:srgbClr val="FFB400"/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F4361EC-AED8-4B86-B0D1-15361ACD5BB7}"/>
                </a:ext>
              </a:extLst>
            </p:cNvPr>
            <p:cNvSpPr/>
            <p:nvPr userDrawn="1"/>
          </p:nvSpPr>
          <p:spPr>
            <a:xfrm>
              <a:off x="0" y="0"/>
              <a:ext cx="342900" cy="6858000"/>
            </a:xfrm>
            <a:prstGeom prst="rect">
              <a:avLst/>
            </a:prstGeom>
            <a:grpFill/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D7164C5-7F89-48EA-9906-0AF23BCC4882}"/>
                </a:ext>
              </a:extLst>
            </p:cNvPr>
            <p:cNvSpPr/>
            <p:nvPr userDrawn="1"/>
          </p:nvSpPr>
          <p:spPr>
            <a:xfrm rot="16200000">
              <a:off x="514859" y="6002550"/>
              <a:ext cx="342900" cy="1368000"/>
            </a:xfrm>
            <a:prstGeom prst="rect">
              <a:avLst/>
            </a:prstGeom>
            <a:grpFill/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1" name="Picture 10" descr="A screenshot of a video game&#10;&#10;Description automatically generated">
            <a:extLst>
              <a:ext uri="{FF2B5EF4-FFF2-40B4-BE49-F238E27FC236}">
                <a16:creationId xmlns:a16="http://schemas.microsoft.com/office/drawing/2014/main" id="{400D0D9E-702E-4495-B908-117D903BB1A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772"/>
          <a:stretch/>
        </p:blipFill>
        <p:spPr>
          <a:xfrm>
            <a:off x="7680632" y="120349"/>
            <a:ext cx="1276193" cy="1260000"/>
          </a:xfrm>
          <a:prstGeom prst="rect">
            <a:avLst/>
          </a:prstGeom>
        </p:spPr>
      </p:pic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BE68E431-7FC2-47FC-A826-4B794B289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9B4F37E-A6B4-4A59-A76A-E67F5B42B7AF}"/>
              </a:ext>
            </a:extLst>
          </p:cNvPr>
          <p:cNvCxnSpPr>
            <a:cxnSpLocks/>
          </p:cNvCxnSpPr>
          <p:nvPr/>
        </p:nvCxnSpPr>
        <p:spPr>
          <a:xfrm flipH="1">
            <a:off x="1071418" y="4581245"/>
            <a:ext cx="6918037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4758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alphaModFix amt="20000"/>
            <a:lum/>
          </a:blip>
          <a:srcRect/>
          <a:stretch>
            <a:fillRect l="1000" t="93000" r="85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44838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95554"/>
            <a:ext cx="7886700" cy="4931327"/>
          </a:xfrm>
        </p:spPr>
        <p:txBody>
          <a:bodyPr/>
          <a:lstStyle>
            <a:lvl2pPr marL="685800" indent="-228600">
              <a:buFont typeface="Wingdings" panose="05000000000000000000" pitchFamily="2" charset="2"/>
              <a:buChar char="§"/>
              <a:defRPr sz="2200"/>
            </a:lvl2pPr>
            <a:lvl3pPr marL="1143000" indent="-228600">
              <a:buFont typeface="Courier New" panose="02070309020205020404" pitchFamily="49" charset="0"/>
              <a:buChar char="o"/>
              <a:defRPr sz="1800"/>
            </a:lvl3pPr>
            <a:lvl4pPr marL="1600200" indent="-228600">
              <a:buFont typeface="Franklin Gothic Book" panose="020B0503020102020204" pitchFamily="34" charset="0"/>
              <a:buChar char="―"/>
              <a:defRPr sz="1600"/>
            </a:lvl4pPr>
            <a:lvl5pPr marL="2057400" indent="-22860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89455" y="6492873"/>
            <a:ext cx="525895" cy="365125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0" name="Picture 9" descr="A screenshot of a video game&#10;&#10;Description automatically generated">
            <a:extLst>
              <a:ext uri="{FF2B5EF4-FFF2-40B4-BE49-F238E27FC236}">
                <a16:creationId xmlns:a16="http://schemas.microsoft.com/office/drawing/2014/main" id="{25117F72-A25C-4562-B741-ED2B6BAAA2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650" b="772"/>
          <a:stretch/>
        </p:blipFill>
        <p:spPr>
          <a:xfrm>
            <a:off x="0" y="345965"/>
            <a:ext cx="554370" cy="864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72EFA-43C3-4986-8204-6D8755B204AF}"/>
              </a:ext>
            </a:extLst>
          </p:cNvPr>
          <p:cNvGrpSpPr/>
          <p:nvPr/>
        </p:nvGrpSpPr>
        <p:grpSpPr>
          <a:xfrm>
            <a:off x="8539904" y="435965"/>
            <a:ext cx="604096" cy="684000"/>
            <a:chOff x="24554" y="448418"/>
            <a:chExt cx="604096" cy="684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FBAC80-66D2-4E1E-B3CA-BAEBB8E4FB80}"/>
                </a:ext>
              </a:extLst>
            </p:cNvPr>
            <p:cNvSpPr/>
            <p:nvPr userDrawn="1"/>
          </p:nvSpPr>
          <p:spPr>
            <a:xfrm>
              <a:off x="484650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912841-8D49-4A6E-A79D-84DDF6D39288}"/>
                </a:ext>
              </a:extLst>
            </p:cNvPr>
            <p:cNvSpPr/>
            <p:nvPr userDrawn="1"/>
          </p:nvSpPr>
          <p:spPr>
            <a:xfrm>
              <a:off x="25752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6B4486-4F05-4863-9050-63BBB7AAFF46}"/>
                </a:ext>
              </a:extLst>
            </p:cNvPr>
            <p:cNvSpPr/>
            <p:nvPr userDrawn="1"/>
          </p:nvSpPr>
          <p:spPr>
            <a:xfrm>
              <a:off x="2455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25EDF29-E7FA-42BB-A5D2-94CEEA4E580C}"/>
              </a:ext>
            </a:extLst>
          </p:cNvPr>
          <p:cNvCxnSpPr/>
          <p:nvPr/>
        </p:nvCxnSpPr>
        <p:spPr>
          <a:xfrm>
            <a:off x="1071418" y="1209961"/>
            <a:ext cx="6918037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0347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bg>
      <p:bgPr>
        <a:blipFill dpi="0" rotWithShape="1">
          <a:blip r:embed="rId2">
            <a:alphaModFix amt="20000"/>
            <a:lum/>
          </a:blip>
          <a:srcRect/>
          <a:stretch>
            <a:fillRect l="1000" t="93000" r="85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44838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89455" y="6492873"/>
            <a:ext cx="525895" cy="365125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0" name="Picture 9" descr="A screenshot of a video game&#10;&#10;Description automatically generated">
            <a:extLst>
              <a:ext uri="{FF2B5EF4-FFF2-40B4-BE49-F238E27FC236}">
                <a16:creationId xmlns:a16="http://schemas.microsoft.com/office/drawing/2014/main" id="{25117F72-A25C-4562-B741-ED2B6BAAA2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650" b="772"/>
          <a:stretch/>
        </p:blipFill>
        <p:spPr>
          <a:xfrm>
            <a:off x="0" y="345965"/>
            <a:ext cx="554370" cy="864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72EFA-43C3-4986-8204-6D8755B204AF}"/>
              </a:ext>
            </a:extLst>
          </p:cNvPr>
          <p:cNvGrpSpPr/>
          <p:nvPr/>
        </p:nvGrpSpPr>
        <p:grpSpPr>
          <a:xfrm>
            <a:off x="8539904" y="435965"/>
            <a:ext cx="604096" cy="684000"/>
            <a:chOff x="24554" y="448418"/>
            <a:chExt cx="604096" cy="684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FBAC80-66D2-4E1E-B3CA-BAEBB8E4FB80}"/>
                </a:ext>
              </a:extLst>
            </p:cNvPr>
            <p:cNvSpPr/>
            <p:nvPr userDrawn="1"/>
          </p:nvSpPr>
          <p:spPr>
            <a:xfrm>
              <a:off x="484650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912841-8D49-4A6E-A79D-84DDF6D39288}"/>
                </a:ext>
              </a:extLst>
            </p:cNvPr>
            <p:cNvSpPr/>
            <p:nvPr userDrawn="1"/>
          </p:nvSpPr>
          <p:spPr>
            <a:xfrm>
              <a:off x="25752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6B4486-4F05-4863-9050-63BBB7AAFF46}"/>
                </a:ext>
              </a:extLst>
            </p:cNvPr>
            <p:cNvSpPr/>
            <p:nvPr userDrawn="1"/>
          </p:nvSpPr>
          <p:spPr>
            <a:xfrm>
              <a:off x="2455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25EDF29-E7FA-42BB-A5D2-94CEEA4E580C}"/>
              </a:ext>
            </a:extLst>
          </p:cNvPr>
          <p:cNvCxnSpPr/>
          <p:nvPr/>
        </p:nvCxnSpPr>
        <p:spPr>
          <a:xfrm>
            <a:off x="1071418" y="1209961"/>
            <a:ext cx="6918037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1050AD4-29D0-47EA-9708-82FD8FAF1B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413164"/>
            <a:ext cx="3886200" cy="47637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0C09F13D-5F40-4714-BA42-EFC264DE96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413164"/>
            <a:ext cx="3886200" cy="47637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82555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blipFill dpi="0" rotWithShape="1">
          <a:blip r:embed="rId2">
            <a:alphaModFix amt="20000"/>
            <a:lum/>
          </a:blip>
          <a:srcRect/>
          <a:stretch>
            <a:fillRect l="1000" t="93000" r="85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44838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89455" y="6492873"/>
            <a:ext cx="525895" cy="365125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0" name="Picture 9" descr="A screenshot of a video game&#10;&#10;Description automatically generated">
            <a:extLst>
              <a:ext uri="{FF2B5EF4-FFF2-40B4-BE49-F238E27FC236}">
                <a16:creationId xmlns:a16="http://schemas.microsoft.com/office/drawing/2014/main" id="{25117F72-A25C-4562-B741-ED2B6BAAA2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650" b="772"/>
          <a:stretch/>
        </p:blipFill>
        <p:spPr>
          <a:xfrm>
            <a:off x="0" y="345965"/>
            <a:ext cx="554370" cy="864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72EFA-43C3-4986-8204-6D8755B204AF}"/>
              </a:ext>
            </a:extLst>
          </p:cNvPr>
          <p:cNvGrpSpPr/>
          <p:nvPr/>
        </p:nvGrpSpPr>
        <p:grpSpPr>
          <a:xfrm>
            <a:off x="8539904" y="435965"/>
            <a:ext cx="604096" cy="684000"/>
            <a:chOff x="24554" y="448418"/>
            <a:chExt cx="604096" cy="684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FBAC80-66D2-4E1E-B3CA-BAEBB8E4FB80}"/>
                </a:ext>
              </a:extLst>
            </p:cNvPr>
            <p:cNvSpPr/>
            <p:nvPr userDrawn="1"/>
          </p:nvSpPr>
          <p:spPr>
            <a:xfrm>
              <a:off x="484650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912841-8D49-4A6E-A79D-84DDF6D39288}"/>
                </a:ext>
              </a:extLst>
            </p:cNvPr>
            <p:cNvSpPr/>
            <p:nvPr userDrawn="1"/>
          </p:nvSpPr>
          <p:spPr>
            <a:xfrm>
              <a:off x="25752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6B4486-4F05-4863-9050-63BBB7AAFF46}"/>
                </a:ext>
              </a:extLst>
            </p:cNvPr>
            <p:cNvSpPr/>
            <p:nvPr userDrawn="1"/>
          </p:nvSpPr>
          <p:spPr>
            <a:xfrm>
              <a:off x="2455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25EDF29-E7FA-42BB-A5D2-94CEEA4E580C}"/>
              </a:ext>
            </a:extLst>
          </p:cNvPr>
          <p:cNvCxnSpPr/>
          <p:nvPr/>
        </p:nvCxnSpPr>
        <p:spPr>
          <a:xfrm>
            <a:off x="1071418" y="1209961"/>
            <a:ext cx="6918037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2377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blipFill dpi="0" rotWithShape="1">
          <a:blip r:embed="rId2">
            <a:alphaModFix amt="20000"/>
            <a:lum/>
          </a:blip>
          <a:srcRect/>
          <a:stretch>
            <a:fillRect l="1000" t="93000" r="85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89455" y="6492873"/>
            <a:ext cx="525895" cy="365125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0" name="Picture 9" descr="A screenshot of a video game&#10;&#10;Description automatically generated">
            <a:extLst>
              <a:ext uri="{FF2B5EF4-FFF2-40B4-BE49-F238E27FC236}">
                <a16:creationId xmlns:a16="http://schemas.microsoft.com/office/drawing/2014/main" id="{25117F72-A25C-4562-B741-ED2B6BAAA2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650" b="772"/>
          <a:stretch/>
        </p:blipFill>
        <p:spPr>
          <a:xfrm>
            <a:off x="0" y="345965"/>
            <a:ext cx="554370" cy="864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72EFA-43C3-4986-8204-6D8755B204AF}"/>
              </a:ext>
            </a:extLst>
          </p:cNvPr>
          <p:cNvGrpSpPr/>
          <p:nvPr/>
        </p:nvGrpSpPr>
        <p:grpSpPr>
          <a:xfrm>
            <a:off x="8539904" y="435965"/>
            <a:ext cx="604096" cy="684000"/>
            <a:chOff x="24554" y="448418"/>
            <a:chExt cx="604096" cy="684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FBAC80-66D2-4E1E-B3CA-BAEBB8E4FB80}"/>
                </a:ext>
              </a:extLst>
            </p:cNvPr>
            <p:cNvSpPr/>
            <p:nvPr userDrawn="1"/>
          </p:nvSpPr>
          <p:spPr>
            <a:xfrm>
              <a:off x="484650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912841-8D49-4A6E-A79D-84DDF6D39288}"/>
                </a:ext>
              </a:extLst>
            </p:cNvPr>
            <p:cNvSpPr/>
            <p:nvPr userDrawn="1"/>
          </p:nvSpPr>
          <p:spPr>
            <a:xfrm>
              <a:off x="25752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6B4486-4F05-4863-9050-63BBB7AAFF46}"/>
                </a:ext>
              </a:extLst>
            </p:cNvPr>
            <p:cNvSpPr/>
            <p:nvPr userDrawn="1"/>
          </p:nvSpPr>
          <p:spPr>
            <a:xfrm>
              <a:off x="2455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084370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0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0" y="1"/>
            <a:ext cx="9144000" cy="1124744"/>
          </a:xfrm>
          <a:solidFill>
            <a:schemeClr val="bg1"/>
          </a:solidFill>
        </p:spPr>
        <p:txBody>
          <a:bodyPr/>
          <a:lstStyle>
            <a:lvl1pPr>
              <a:defRPr sz="4000"/>
            </a:lvl1pPr>
          </a:lstStyle>
          <a:p>
            <a:r>
              <a:rPr lang="en-US" noProof="0"/>
              <a:t>Click to edit Master title style</a:t>
            </a:r>
            <a:endParaRPr lang="hr-HR" noProof="0" dirty="0"/>
          </a:p>
        </p:txBody>
      </p:sp>
      <p:sp>
        <p:nvSpPr>
          <p:cNvPr id="324611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0" y="2997200"/>
            <a:ext cx="9144000" cy="122237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 b="1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r>
              <a:rPr lang="en-US" noProof="0"/>
              <a:t>Click to edit Master subtitle style</a:t>
            </a:r>
            <a:endParaRPr lang="hr-HR" noProof="0" dirty="0"/>
          </a:p>
        </p:txBody>
      </p:sp>
      <p:sp>
        <p:nvSpPr>
          <p:cNvPr id="170" name="Rectangle 325"/>
          <p:cNvSpPr>
            <a:spLocks noChangeArrowheads="1"/>
          </p:cNvSpPr>
          <p:nvPr/>
        </p:nvSpPr>
        <p:spPr bwMode="auto">
          <a:xfrm>
            <a:off x="0" y="3573463"/>
            <a:ext cx="91440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endParaRPr lang="hr-HR" sz="2800" noProof="0" dirty="0">
              <a:solidFill>
                <a:srgbClr val="FF99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4358" y="5597395"/>
            <a:ext cx="619125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88929744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19138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hr-HR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0" y="836613"/>
            <a:ext cx="4495800" cy="554513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hr-HR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836613"/>
            <a:ext cx="4495800" cy="554513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hr-HR" noProof="0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hr-HR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32828595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lank">
            <a:extLst>
              <a:ext uri="{FF2B5EF4-FFF2-40B4-BE49-F238E27FC236}">
                <a16:creationId xmlns:a16="http://schemas.microsoft.com/office/drawing/2014/main" id="{DF900481-7CD7-44CE-90E6-3583037D52D9}"/>
              </a:ext>
            </a:extLst>
          </p:cNvPr>
          <p:cNvSpPr/>
          <p:nvPr/>
        </p:nvSpPr>
        <p:spPr bwMode="auto">
          <a:xfrm>
            <a:off x="13527" y="-4384"/>
            <a:ext cx="9144000" cy="9906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50899" tIns="25004" rIns="50899" bIns="25004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indent="0" algn="ctr" defTabSz="5143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r-HR" sz="1125" b="1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Franklin Gothic Medium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2947" y="3752009"/>
            <a:ext cx="8245162" cy="1475013"/>
          </a:xfrm>
          <a:effectLst/>
        </p:spPr>
        <p:txBody>
          <a:bodyPr anchor="b" anchorCtr="1"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2949" y="5227023"/>
            <a:ext cx="8245160" cy="590321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 cap="none">
                <a:solidFill>
                  <a:schemeClr val="tx1"/>
                </a:solidFill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1" name="UNI_Logo">
            <a:extLst>
              <a:ext uri="{FF2B5EF4-FFF2-40B4-BE49-F238E27FC236}">
                <a16:creationId xmlns:a16="http://schemas.microsoft.com/office/drawing/2014/main" id="{B60ABF21-F805-4F5C-9378-DA9D7D2CB64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0606" t="17629" r="15252" b="19248"/>
          <a:stretch/>
        </p:blipFill>
        <p:spPr>
          <a:xfrm>
            <a:off x="6770836" y="262594"/>
            <a:ext cx="727345" cy="720000"/>
          </a:xfrm>
          <a:prstGeom prst="rect">
            <a:avLst/>
          </a:prstGeom>
        </p:spPr>
      </p:pic>
      <p:pic>
        <p:nvPicPr>
          <p:cNvPr id="12" name="FER_logo" descr="A close up of a logo&#10;&#10;Description automatically generated">
            <a:extLst>
              <a:ext uri="{FF2B5EF4-FFF2-40B4-BE49-F238E27FC236}">
                <a16:creationId xmlns:a16="http://schemas.microsoft.com/office/drawing/2014/main" id="{EC1CAE0A-3E29-4F8A-A85F-FFEEA390805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79000"/>
          </a:blip>
          <a:srcRect l="13474" t="23715" r="15700" b="21450"/>
          <a:stretch/>
        </p:blipFill>
        <p:spPr>
          <a:xfrm>
            <a:off x="7629063" y="345375"/>
            <a:ext cx="1188000" cy="582400"/>
          </a:xfrm>
          <a:prstGeom prst="rect">
            <a:avLst/>
          </a:prstGeom>
        </p:spPr>
      </p:pic>
      <p:sp>
        <p:nvSpPr>
          <p:cNvPr id="13" name="Course">
            <a:extLst>
              <a:ext uri="{FF2B5EF4-FFF2-40B4-BE49-F238E27FC236}">
                <a16:creationId xmlns:a16="http://schemas.microsoft.com/office/drawing/2014/main" id="{606EE227-E1A4-48CD-8072-A5BFFE497034}"/>
              </a:ext>
            </a:extLst>
          </p:cNvPr>
          <p:cNvSpPr txBox="1"/>
          <p:nvPr/>
        </p:nvSpPr>
        <p:spPr>
          <a:xfrm>
            <a:off x="6309966" y="2336793"/>
            <a:ext cx="2398143" cy="561474"/>
          </a:xfrm>
          <a:prstGeom prst="rect">
            <a:avLst/>
          </a:prstGeom>
          <a:noFill/>
        </p:spPr>
        <p:txBody>
          <a:bodyPr wrap="square">
            <a:normAutofit fontScale="85000" lnSpcReduction="10000"/>
          </a:bodyPr>
          <a:lstStyle/>
          <a:p>
            <a:pPr marL="0" algn="l" defTabSz="457200" rtl="0" eaLnBrk="1" latinLnBrk="0" hangingPunct="1">
              <a:lnSpc>
                <a:spcPct val="110000"/>
              </a:lnSpc>
            </a:pPr>
            <a:r>
              <a:rPr lang="hr-HR" sz="1800" b="1" kern="1200" cap="small" noProof="0" dirty="0">
                <a:solidFill>
                  <a:srgbClr val="363636"/>
                </a:solidFill>
                <a:latin typeface="Century Gothic" panose="020B0502020202020204" pitchFamily="34" charset="0"/>
                <a:ea typeface="+mn-ea"/>
                <a:cs typeface="+mn-cs"/>
              </a:rPr>
              <a:t>Programsko inženjerstvo</a:t>
            </a:r>
          </a:p>
          <a:p>
            <a:pPr marL="0" algn="l" defTabSz="457200" rtl="0" eaLnBrk="1" latinLnBrk="0" hangingPunct="1">
              <a:lnSpc>
                <a:spcPct val="110000"/>
              </a:lnSpc>
            </a:pPr>
            <a:r>
              <a:rPr lang="hr-HR" sz="1800" b="1" kern="1200" cap="small" dirty="0">
                <a:solidFill>
                  <a:srgbClr val="363636"/>
                </a:solidFill>
                <a:latin typeface="Century Gothic" panose="020B0502020202020204" pitchFamily="34" charset="0"/>
                <a:ea typeface="+mn-ea"/>
                <a:cs typeface="+mn-cs"/>
              </a:rPr>
              <a:t>ID 183400</a:t>
            </a:r>
            <a:endParaRPr lang="en-US" sz="1200" noProof="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4A5D7BB-0877-4A5C-8FF5-FD8D403DFC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970" y="0"/>
            <a:ext cx="3204212" cy="277408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F0074D2-401D-5430-6887-B383F93FE29E}"/>
              </a:ext>
            </a:extLst>
          </p:cNvPr>
          <p:cNvSpPr txBox="1"/>
          <p:nvPr userDrawn="1"/>
        </p:nvSpPr>
        <p:spPr>
          <a:xfrm>
            <a:off x="2757249" y="3266875"/>
            <a:ext cx="33702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r-HR" sz="2000" b="0" kern="1200" cap="all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rPr>
              <a:t>Prezentacija</a:t>
            </a:r>
            <a:r>
              <a:rPr lang="hr-HR" sz="2000" noProof="0" dirty="0">
                <a:latin typeface="Franklin Gothic Demi" panose="020B0703020102020204" pitchFamily="34" charset="0"/>
              </a:rPr>
              <a:t> </a:t>
            </a:r>
            <a:r>
              <a:rPr lang="hr-HR" sz="2000" b="0" kern="1200" cap="all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rPr>
              <a:t>projekta</a:t>
            </a:r>
          </a:p>
        </p:txBody>
      </p:sp>
    </p:spTree>
    <p:extLst>
      <p:ext uri="{BB962C8B-B14F-4D97-AF65-F5344CB8AC3E}">
        <p14:creationId xmlns:p14="http://schemas.microsoft.com/office/powerpoint/2010/main" val="205118373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999" y="36000"/>
            <a:ext cx="7920000" cy="828262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99" y="972000"/>
            <a:ext cx="9000000" cy="5400000"/>
          </a:xfrm>
        </p:spPr>
        <p:txBody>
          <a:bodyPr/>
          <a:lstStyle>
            <a:lvl1pPr marL="266700" indent="-266700">
              <a:defRPr>
                <a:solidFill>
                  <a:schemeClr val="tx1"/>
                </a:solidFill>
              </a:defRPr>
            </a:lvl1pPr>
            <a:lvl2pPr marL="486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45975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6" y="2393953"/>
            <a:ext cx="8272211" cy="2147467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6" y="4541417"/>
            <a:ext cx="827221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cap="all">
                <a:solidFill>
                  <a:schemeClr val="accent1"/>
                </a:solidFill>
              </a:defRPr>
            </a:lvl1pPr>
            <a:lvl2pPr marL="257175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A2C86E-F1C7-46E0-95C6-696D16C6C694}" type="slidenum">
              <a:rPr lang="hr-HR" noProof="0" smtClean="0"/>
              <a:pPr>
                <a:defRPr/>
              </a:pPr>
              <a:t>‹#›</a:t>
            </a:fld>
            <a:endParaRPr lang="hr-HR" noProof="0" dirty="0"/>
          </a:p>
        </p:txBody>
      </p:sp>
    </p:spTree>
    <p:extLst>
      <p:ext uri="{BB962C8B-B14F-4D97-AF65-F5344CB8AC3E}">
        <p14:creationId xmlns:p14="http://schemas.microsoft.com/office/powerpoint/2010/main" val="34303653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000" y="36000"/>
            <a:ext cx="7920000" cy="82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999" y="972000"/>
            <a:ext cx="4680000" cy="5400000"/>
          </a:xfrm>
        </p:spPr>
        <p:txBody>
          <a:bodyPr>
            <a:normAutofit/>
          </a:bodyPr>
          <a:lstStyle>
            <a:lvl2pPr>
              <a:lnSpc>
                <a:spcPct val="100000"/>
              </a:lnSpc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12030" y="972000"/>
            <a:ext cx="4259971" cy="5400000"/>
          </a:xfrm>
        </p:spPr>
        <p:txBody>
          <a:bodyPr>
            <a:normAutofit/>
          </a:bodyPr>
          <a:lstStyle>
            <a:lvl2pPr marL="396000" indent="-252000">
              <a:lnSpc>
                <a:spcPct val="100000"/>
              </a:lnSpc>
              <a:defRPr lang="en-US" sz="20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8136328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792000" y="-8857"/>
            <a:ext cx="7920000" cy="86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998" y="991413"/>
            <a:ext cx="4680000" cy="557784"/>
          </a:xfrm>
        </p:spPr>
        <p:txBody>
          <a:bodyPr anchor="ctr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98" y="1668252"/>
            <a:ext cx="4680000" cy="4669486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12031" y="991417"/>
            <a:ext cx="4212288" cy="553373"/>
          </a:xfrm>
        </p:spPr>
        <p:txBody>
          <a:bodyPr anchor="ctr">
            <a:noAutofit/>
          </a:bodyPr>
          <a:lstStyle>
            <a:lvl1pPr marL="0" marR="0" indent="0" algn="l" defTabSz="25717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338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marL="0" marR="0" lvl="0" indent="0" algn="l" defTabSz="25717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338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12028" y="1663842"/>
            <a:ext cx="4212288" cy="4669486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56532834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20000" cy="82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2961483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  <p:sp>
        <p:nvSpPr>
          <p:cNvPr id="5" name="Blank">
            <a:extLst>
              <a:ext uri="{FF2B5EF4-FFF2-40B4-BE49-F238E27FC236}">
                <a16:creationId xmlns:a16="http://schemas.microsoft.com/office/drawing/2014/main" id="{B6B16F86-9808-4367-B20B-899AF3F2BA32}"/>
              </a:ext>
            </a:extLst>
          </p:cNvPr>
          <p:cNvSpPr/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50899" tIns="25004" rIns="50899" bIns="25004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indent="0" algn="ctr" defTabSz="5143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r-HR" sz="1125" b="1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Franklin Gothic Medium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33650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5894" y="1008824"/>
            <a:ext cx="2273889" cy="1722419"/>
          </a:xfrm>
        </p:spPr>
        <p:txBody>
          <a:bodyPr anchor="b">
            <a:normAutofit/>
          </a:bodyPr>
          <a:lstStyle>
            <a:lvl1pPr algn="l">
              <a:defRPr sz="135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75698" y="1008824"/>
            <a:ext cx="4988243" cy="5294004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100">
                <a:solidFill>
                  <a:schemeClr val="tx2"/>
                </a:solidFill>
              </a:defRPr>
            </a:lvl4pPr>
            <a:lvl5pPr>
              <a:defRPr sz="1100">
                <a:solidFill>
                  <a:schemeClr val="tx2"/>
                </a:solidFill>
              </a:defRPr>
            </a:lvl5pPr>
            <a:lvl6pPr>
              <a:defRPr sz="788">
                <a:solidFill>
                  <a:schemeClr val="tx2"/>
                </a:solidFill>
              </a:defRPr>
            </a:lvl6pPr>
            <a:lvl7pPr>
              <a:defRPr sz="788">
                <a:solidFill>
                  <a:schemeClr val="tx2"/>
                </a:solidFill>
              </a:defRPr>
            </a:lvl7pPr>
            <a:lvl8pPr>
              <a:defRPr sz="788">
                <a:solidFill>
                  <a:schemeClr val="tx2"/>
                </a:solidFill>
              </a:defRPr>
            </a:lvl8pPr>
            <a:lvl9pPr>
              <a:defRPr sz="788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5894" y="2836656"/>
            <a:ext cx="2273889" cy="3466175"/>
          </a:xfrm>
        </p:spPr>
        <p:txBody>
          <a:bodyPr anchor="t">
            <a:normAutofit/>
          </a:bodyPr>
          <a:lstStyle>
            <a:lvl1pPr marL="0" indent="0" algn="l">
              <a:buNone/>
              <a:defRPr sz="900">
                <a:solidFill>
                  <a:srgbClr val="FFFFFF"/>
                </a:solidFill>
              </a:defRPr>
            </a:lvl1pPr>
            <a:lvl2pPr marL="257175" indent="0">
              <a:buNone/>
              <a:defRPr sz="619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04465" y="6456919"/>
            <a:ext cx="2133599" cy="365125"/>
          </a:xfrm>
        </p:spPr>
        <p:txBody>
          <a:bodyPr/>
          <a:lstStyle/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7231" y="6452593"/>
            <a:ext cx="4836571" cy="365125"/>
          </a:xfrm>
        </p:spPr>
        <p:txBody>
          <a:bodyPr/>
          <a:lstStyle/>
          <a:p>
            <a:endParaRPr lang="hr-HR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18726" y="6456919"/>
            <a:ext cx="789383" cy="365125"/>
          </a:xfrm>
        </p:spPr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564685486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4693389"/>
            <a:ext cx="8272212" cy="566738"/>
          </a:xfrm>
        </p:spPr>
        <p:txBody>
          <a:bodyPr anchor="b">
            <a:normAutofit/>
          </a:bodyPr>
          <a:lstStyle>
            <a:lvl1pPr algn="l"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7929" y="1042141"/>
            <a:ext cx="8468144" cy="3485610"/>
          </a:xfrm>
        </p:spPr>
        <p:txBody>
          <a:bodyPr anchor="t">
            <a:normAutofit/>
          </a:bodyPr>
          <a:lstStyle>
            <a:lvl1pPr marL="0" indent="0" algn="ctr">
              <a:buNone/>
              <a:defRPr sz="900"/>
            </a:lvl1pPr>
            <a:lvl2pPr marL="257175" indent="0">
              <a:buNone/>
              <a:defRPr sz="900"/>
            </a:lvl2pPr>
            <a:lvl3pPr marL="514350" indent="0">
              <a:buNone/>
              <a:defRPr sz="900"/>
            </a:lvl3pPr>
            <a:lvl4pPr marL="771525" indent="0">
              <a:buNone/>
              <a:defRPr sz="900"/>
            </a:lvl4pPr>
            <a:lvl5pPr marL="1028700" indent="0">
              <a:buNone/>
              <a:defRPr sz="900"/>
            </a:lvl5pPr>
            <a:lvl6pPr marL="1285875" indent="0">
              <a:buNone/>
              <a:defRPr sz="900"/>
            </a:lvl6pPr>
            <a:lvl7pPr marL="1543050" indent="0">
              <a:buNone/>
              <a:defRPr sz="900"/>
            </a:lvl7pPr>
            <a:lvl8pPr marL="1800225" indent="0">
              <a:buNone/>
              <a:defRPr sz="900"/>
            </a:lvl8pPr>
            <a:lvl9pPr marL="2057400" indent="0">
              <a:buNone/>
              <a:defRPr sz="9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5895" y="5260127"/>
            <a:ext cx="8272213" cy="998148"/>
          </a:xfrm>
        </p:spPr>
        <p:txBody>
          <a:bodyPr anchor="t">
            <a:normAutofit/>
          </a:bodyPr>
          <a:lstStyle>
            <a:lvl1pPr marL="0" indent="0">
              <a:buNone/>
              <a:defRPr sz="900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199510302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20000" cy="82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651248466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6043613" y="599725"/>
            <a:ext cx="2765487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53150" y="863600"/>
            <a:ext cx="234315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81194" y="863600"/>
            <a:ext cx="5371219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334901" y="457200"/>
            <a:ext cx="277749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6031610" y="453643"/>
            <a:ext cx="277749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3181373" y="457200"/>
            <a:ext cx="277749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677989066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9EB10-FBF8-4CBA-B026-F8DE91FFE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13" y="123825"/>
            <a:ext cx="8999537" cy="533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416ABA-433E-479F-BD29-1C844B0A1F5F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361950" y="1052513"/>
            <a:ext cx="4168775" cy="50434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Online Image Placeholder 3">
            <a:extLst>
              <a:ext uri="{FF2B5EF4-FFF2-40B4-BE49-F238E27FC236}">
                <a16:creationId xmlns:a16="http://schemas.microsoft.com/office/drawing/2014/main" id="{B4264813-3E43-478F-B65D-0BC0200A93E3}"/>
              </a:ext>
            </a:extLst>
          </p:cNvPr>
          <p:cNvSpPr>
            <a:spLocks noGrp="1"/>
          </p:cNvSpPr>
          <p:nvPr>
            <p:ph type="clipArt" sz="half" idx="2"/>
          </p:nvPr>
        </p:nvSpPr>
        <p:spPr>
          <a:xfrm>
            <a:off x="4683125" y="1052513"/>
            <a:ext cx="4168775" cy="5043487"/>
          </a:xfrm>
        </p:spPr>
        <p:txBody>
          <a:bodyPr/>
          <a:lstStyle/>
          <a:p>
            <a:r>
              <a:rPr lang="en-US"/>
              <a:t>Click icon to add online image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381678076"/>
      </p:ext>
    </p:extLst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05A3D-D87F-4AF2-BA78-EC513449E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388" y="1643063"/>
            <a:ext cx="8964612" cy="5619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69B210-E8A1-4163-B353-9596A4987A67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79388" y="2349500"/>
            <a:ext cx="4316412" cy="395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15EE46-BB07-40D1-BA76-9A68CCF90965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4648200" y="2349500"/>
            <a:ext cx="4316413" cy="19034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C13EFCE-9805-4C10-9F35-FE6B61EEEB78}"/>
              </a:ext>
            </a:extLst>
          </p:cNvPr>
          <p:cNvSpPr>
            <a:spLocks noGrp="1"/>
          </p:cNvSpPr>
          <p:nvPr>
            <p:ph sz="quarter" idx="3"/>
          </p:nvPr>
        </p:nvSpPr>
        <p:spPr>
          <a:xfrm>
            <a:off x="4648200" y="4405313"/>
            <a:ext cx="4316413" cy="1903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B9D8B36-6841-48AB-ACDD-303377A53B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4438" y="6453188"/>
            <a:ext cx="1773237" cy="319087"/>
          </a:xfrm>
        </p:spPr>
        <p:txBody>
          <a:bodyPr/>
          <a:lstStyle>
            <a:lvl1pPr>
              <a:defRPr/>
            </a:lvl1pPr>
          </a:lstStyle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7546225-D832-45D6-9D1F-C2C298013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453188"/>
            <a:ext cx="2895600" cy="319087"/>
          </a:xfrm>
        </p:spPr>
        <p:txBody>
          <a:bodyPr/>
          <a:lstStyle>
            <a:lvl1pPr>
              <a:defRPr/>
            </a:lvl1pPr>
          </a:lstStyle>
          <a:p>
            <a:endParaRPr lang="hr-HR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993AD3A-68A5-4246-9D01-4FF480FAD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02450" y="6440488"/>
            <a:ext cx="2133600" cy="319087"/>
          </a:xfrm>
        </p:spPr>
        <p:txBody>
          <a:bodyPr/>
          <a:lstStyle>
            <a:lvl1pPr>
              <a:defRPr/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710353091"/>
      </p:ext>
    </p:extLst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2E4BB-D381-461E-98CE-EC214FB2C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222250"/>
            <a:ext cx="8153400" cy="7048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55E26-D24E-448B-A60D-AC4ADA3256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5600" y="1295400"/>
            <a:ext cx="8255000" cy="238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8580C4-0743-475D-99BC-A08C21692F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5600" y="3832225"/>
            <a:ext cx="8255000" cy="238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507078345"/>
      </p:ext>
    </p:extLst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33B67453-1C01-4A88-9B88-0395558C4C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59563"/>
            <a:ext cx="9144000" cy="198437"/>
          </a:xfrm>
          <a:prstGeom prst="rect">
            <a:avLst/>
          </a:prstGeom>
          <a:solidFill>
            <a:srgbClr val="9EC54A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sr-Latn-RS" altLang="sr-Latn-RS" sz="2400" b="0" dirty="0">
              <a:ea typeface="ＭＳ Ｐゴシック" panose="020B0600070205080204" pitchFamily="34" charset="-128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EB15CA-4405-4999-8824-E5B89AB2F4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500" y="5734050"/>
            <a:ext cx="8509000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 b="0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1604BB0-89C9-40DD-B4C1-65ECA21B8E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638175"/>
          </a:xfrm>
          <a:prstGeom prst="rect">
            <a:avLst/>
          </a:prstGeom>
          <a:solidFill>
            <a:srgbClr val="9EC54A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sr-Latn-RS" altLang="sr-Latn-RS" sz="2400" b="0" dirty="0">
              <a:ea typeface="ＭＳ Ｐゴシック" panose="020B0600070205080204" pitchFamily="34" charset="-128"/>
            </a:endParaRPr>
          </a:p>
        </p:txBody>
      </p:sp>
      <p:sp>
        <p:nvSpPr>
          <p:cNvPr id="7" name="Line 12">
            <a:extLst>
              <a:ext uri="{FF2B5EF4-FFF2-40B4-BE49-F238E27FC236}">
                <a16:creationId xmlns:a16="http://schemas.microsoft.com/office/drawing/2014/main" id="{EEC9831C-2EE5-4AB4-811F-0FD7517A5A6B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635000"/>
            <a:ext cx="9144000" cy="0"/>
          </a:xfrm>
          <a:prstGeom prst="line">
            <a:avLst/>
          </a:prstGeom>
          <a:noFill/>
          <a:ln w="12700">
            <a:solidFill>
              <a:srgbClr val="E6C01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r-HR" dirty="0"/>
          </a:p>
        </p:txBody>
      </p:sp>
      <p:sp>
        <p:nvSpPr>
          <p:cNvPr id="8" name="Line 13">
            <a:extLst>
              <a:ext uri="{FF2B5EF4-FFF2-40B4-BE49-F238E27FC236}">
                <a16:creationId xmlns:a16="http://schemas.microsoft.com/office/drawing/2014/main" id="{FB57BD19-2365-4510-B140-A8BF46017B45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6661150"/>
            <a:ext cx="9144000" cy="0"/>
          </a:xfrm>
          <a:prstGeom prst="line">
            <a:avLst/>
          </a:prstGeom>
          <a:noFill/>
          <a:ln w="12700">
            <a:solidFill>
              <a:srgbClr val="E6C01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r-HR" dirty="0"/>
          </a:p>
        </p:txBody>
      </p:sp>
      <p:sp>
        <p:nvSpPr>
          <p:cNvPr id="9" name="Text Box 14">
            <a:extLst>
              <a:ext uri="{FF2B5EF4-FFF2-40B4-BE49-F238E27FC236}">
                <a16:creationId xmlns:a16="http://schemas.microsoft.com/office/drawing/2014/main" id="{E9247816-F8A1-437D-8876-CE3B543F52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39175" y="6689725"/>
            <a:ext cx="5048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sr-Latn-RS" altLang="sr-Latn-RS" b="0" dirty="0"/>
          </a:p>
        </p:txBody>
      </p:sp>
      <p:sp>
        <p:nvSpPr>
          <p:cNvPr id="10" name="Text Box 15">
            <a:extLst>
              <a:ext uri="{FF2B5EF4-FFF2-40B4-BE49-F238E27FC236}">
                <a16:creationId xmlns:a16="http://schemas.microsoft.com/office/drawing/2014/main" id="{E3A00050-2AD2-4E24-A959-018DA26B4A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2125" y="6376988"/>
            <a:ext cx="8445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sr-Latn-RS" altLang="sr-Latn-RS" b="0" dirty="0"/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5240486D-8BBC-4E5F-AE3E-87568EC3A9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2038" y="6626225"/>
            <a:ext cx="606425" cy="24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fld id="{5487ECC7-754E-4F59-8E24-696A1ED399B9}" type="slidenum">
              <a:rPr lang="de-DE" altLang="sr-Latn-RS" sz="1000" b="0" smtClean="0">
                <a:solidFill>
                  <a:schemeClr val="bg1"/>
                </a:solidFill>
              </a:rPr>
              <a:pPr eaLnBrk="1" hangingPunct="1">
                <a:defRPr/>
              </a:pPr>
              <a:t>‹#›</a:t>
            </a:fld>
            <a:endParaRPr lang="de-DE" altLang="sr-Latn-RS" sz="1000" b="0" dirty="0">
              <a:solidFill>
                <a:schemeClr val="bg1"/>
              </a:solidFill>
            </a:endParaRPr>
          </a:p>
        </p:txBody>
      </p:sp>
      <p:pic>
        <p:nvPicPr>
          <p:cNvPr id="12" name="Picture 9" descr="MCAST">
            <a:extLst>
              <a:ext uri="{FF2B5EF4-FFF2-40B4-BE49-F238E27FC236}">
                <a16:creationId xmlns:a16="http://schemas.microsoft.com/office/drawing/2014/main" id="{5EBDEE4A-5D09-433E-904F-F1650F13C5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3313" y="185738"/>
            <a:ext cx="1484312" cy="296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9EE17B41-E6B1-4669-AD1B-D326DFF0B618}"/>
              </a:ext>
            </a:extLst>
          </p:cNvPr>
          <p:cNvSpPr txBox="1"/>
          <p:nvPr/>
        </p:nvSpPr>
        <p:spPr>
          <a:xfrm>
            <a:off x="0" y="6657975"/>
            <a:ext cx="9144000" cy="214313"/>
          </a:xfrm>
          <a:prstGeom prst="rect">
            <a:avLst/>
          </a:prstGeom>
          <a:noFill/>
        </p:spPr>
        <p:txBody>
          <a:bodyPr>
            <a:spAutoFit/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15000"/>
              </a:lnSpc>
              <a:spcAft>
                <a:spcPts val="1000"/>
              </a:spcAft>
              <a:defRPr/>
            </a:pPr>
            <a:r>
              <a:rPr lang="en-US" sz="700" b="0" dirty="0">
                <a:ea typeface="Times New Roman"/>
                <a:cs typeface="Times New Roman"/>
              </a:rPr>
              <a:t>A Vocational Degree programme developed by MCAST and Fraunhofer IAO.</a:t>
            </a:r>
            <a:endParaRPr lang="de-DE" sz="700" b="0" dirty="0">
              <a:ea typeface="Times New Roman"/>
              <a:cs typeface="Times New Roman"/>
            </a:endParaRPr>
          </a:p>
        </p:txBody>
      </p:sp>
      <p:pic>
        <p:nvPicPr>
          <p:cNvPr id="14" name="Grafik 13" descr="C:\Dokumente und Einstellungen\sahin\Desktop\iao_85mm_p334.png">
            <a:extLst>
              <a:ext uri="{FF2B5EF4-FFF2-40B4-BE49-F238E27FC236}">
                <a16:creationId xmlns:a16="http://schemas.microsoft.com/office/drawing/2014/main" id="{118DF992-D6B3-42BA-B7AF-94ADD5D832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155575"/>
            <a:ext cx="1384300" cy="376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Inhaltsplatzhalter 14"/>
          <p:cNvSpPr>
            <a:spLocks noGrp="1"/>
          </p:cNvSpPr>
          <p:nvPr>
            <p:ph sz="quarter" idx="10"/>
          </p:nvPr>
        </p:nvSpPr>
        <p:spPr>
          <a:xfrm>
            <a:off x="372122" y="1917577"/>
            <a:ext cx="8443404" cy="44736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2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75081" y="859963"/>
            <a:ext cx="8422689" cy="755773"/>
          </a:xfrm>
        </p:spPr>
        <p:txBody>
          <a:bodyPr anchor="b"/>
          <a:lstStyle>
            <a:lvl1pPr algn="ctr">
              <a:defRPr sz="2200" smtClean="0">
                <a:latin typeface="Arial" charset="0"/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824037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ítulo y tab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150938" y="533400"/>
            <a:ext cx="7793037" cy="769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2 Marcador de tabla"/>
          <p:cNvSpPr>
            <a:spLocks noGrp="1"/>
          </p:cNvSpPr>
          <p:nvPr>
            <p:ph type="tbl" idx="1"/>
          </p:nvPr>
        </p:nvSpPr>
        <p:spPr>
          <a:xfrm>
            <a:off x="0" y="1676400"/>
            <a:ext cx="9144000" cy="4456113"/>
          </a:xfrm>
        </p:spPr>
        <p:txBody>
          <a:bodyPr/>
          <a:lstStyle/>
          <a:p>
            <a:pPr lvl="0"/>
            <a:r>
              <a:rPr lang="en-US" noProof="0"/>
              <a:t>Click icon to add table</a:t>
            </a:r>
            <a:endParaRPr lang="es-ES" noProof="0" dirty="0"/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8878ED30-4CA5-4F36-903B-BB1F88A7DCD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3616777E-FC54-4224-94BE-68414574329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hr-HR" dirty="0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02A5E6CE-E56A-416E-B8B3-DBFD0971A9A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6456871"/>
      </p:ext>
    </p:extLst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6308" y="3685740"/>
            <a:ext cx="7772400" cy="2387600"/>
          </a:xfrm>
        </p:spPr>
        <p:txBody>
          <a:bodyPr lIns="252000" tIns="46800" rIns="252000" anchor="ctr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2828452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1.xml"/><Relationship Id="rId21" Type="http://schemas.microsoft.com/office/2007/relationships/hdphoto" Target="../media/hdphoto1.wdp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0.xml"/><Relationship Id="rId16" Type="http://schemas.openxmlformats.org/officeDocument/2006/relationships/slideLayout" Target="../slideLayouts/slideLayout24.xml"/><Relationship Id="rId20" Type="http://schemas.openxmlformats.org/officeDocument/2006/relationships/image" Target="../media/image9.png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8.xml"/><Relationship Id="rId19" Type="http://schemas.openxmlformats.org/officeDocument/2006/relationships/image" Target="../media/image8.png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580548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20000" cy="8282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" y="972000"/>
            <a:ext cx="9000000" cy="54000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63534" y="6501038"/>
            <a:ext cx="940649" cy="28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58803" y="6501039"/>
            <a:ext cx="6759654" cy="28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cap="none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9260" y="6501038"/>
            <a:ext cx="475056" cy="28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sp>
        <p:nvSpPr>
          <p:cNvPr id="17" name="Rectangle 7">
            <a:extLst>
              <a:ext uri="{FF2B5EF4-FFF2-40B4-BE49-F238E27FC236}">
                <a16:creationId xmlns:a16="http://schemas.microsoft.com/office/drawing/2014/main" id="{89CEFA33-B437-4AA3-8275-93D2FF8194BB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999" y="887249"/>
            <a:ext cx="9000000" cy="45719"/>
          </a:xfrm>
          <a:prstGeom prst="rect">
            <a:avLst/>
          </a:prstGeom>
          <a:gradFill rotWithShape="0">
            <a:gsLst>
              <a:gs pos="3000">
                <a:schemeClr val="accent1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kumimoji="1" lang="hr-HR" sz="1350" b="0" noProof="0" dirty="0">
              <a:latin typeface="Tahoma" pitchFamily="34" charset="0"/>
            </a:endParaRPr>
          </a:p>
        </p:txBody>
      </p:sp>
      <p:sp>
        <p:nvSpPr>
          <p:cNvPr id="20" name="Rectangle 7">
            <a:extLst>
              <a:ext uri="{FF2B5EF4-FFF2-40B4-BE49-F238E27FC236}">
                <a16:creationId xmlns:a16="http://schemas.microsoft.com/office/drawing/2014/main" id="{73C7DFB0-5E2B-4809-9C0B-ED751F99515E}"/>
              </a:ext>
            </a:extLst>
          </p:cNvPr>
          <p:cNvSpPr>
            <a:spLocks noChangeArrowheads="1"/>
          </p:cNvSpPr>
          <p:nvPr/>
        </p:nvSpPr>
        <p:spPr bwMode="gray">
          <a:xfrm>
            <a:off x="2" y="6816222"/>
            <a:ext cx="9143999" cy="36000"/>
          </a:xfrm>
          <a:prstGeom prst="rect">
            <a:avLst/>
          </a:prstGeom>
          <a:gradFill rotWithShape="0">
            <a:gsLst>
              <a:gs pos="3000">
                <a:schemeClr val="bg1">
                  <a:alpha val="56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kumimoji="1" lang="hr-HR" sz="1350" b="0" noProof="0" dirty="0">
              <a:latin typeface="Tahoma" pitchFamily="34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FB4C7E3-BB36-4260-BA39-D064CCA029AF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5394" y="171448"/>
            <a:ext cx="697230" cy="548640"/>
          </a:xfrm>
          <a:prstGeom prst="rect">
            <a:avLst/>
          </a:prstGeom>
        </p:spPr>
      </p:pic>
      <p:pic>
        <p:nvPicPr>
          <p:cNvPr id="24" name="FER_logo" descr="A close up of a logo&#10;&#10;Description automatically generated">
            <a:extLst>
              <a:ext uri="{FF2B5EF4-FFF2-40B4-BE49-F238E27FC236}">
                <a16:creationId xmlns:a16="http://schemas.microsoft.com/office/drawing/2014/main" id="{75090067-1575-4BA5-A613-FCA8F5BA8302}"/>
              </a:ext>
            </a:extLst>
          </p:cNvPr>
          <p:cNvPicPr>
            <a:picLocks noChangeAspect="1"/>
          </p:cNvPicPr>
          <p:nvPr/>
        </p:nvPicPr>
        <p:blipFill rotWithShape="1">
          <a:blip r:embed="rId20">
            <a:alphaModFix amt="79000"/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artisticPhotocopy/>
                    </a14:imgEffect>
                  </a14:imgLayer>
                </a14:imgProps>
              </a:ext>
            </a:extLst>
          </a:blip>
          <a:srcRect l="13474" t="23715" r="15700" b="21450"/>
          <a:stretch/>
        </p:blipFill>
        <p:spPr>
          <a:xfrm>
            <a:off x="8469403" y="296918"/>
            <a:ext cx="634769" cy="306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418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  <p:hf hdr="0" ftr="0" dt="0"/>
  <p:txStyles>
    <p:titleStyle>
      <a:lvl1pPr algn="ctr" defTabSz="257175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2000" indent="-252000" algn="l" defTabSz="257175" rtl="0" eaLnBrk="1" latinLnBrk="0" hangingPunct="1">
        <a:lnSpc>
          <a:spcPct val="110000"/>
        </a:lnSpc>
        <a:spcBef>
          <a:spcPts val="500"/>
        </a:spcBef>
        <a:spcAft>
          <a:spcPts val="3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2400" kern="1200">
          <a:ln>
            <a:noFill/>
          </a:ln>
          <a:solidFill>
            <a:schemeClr val="tx1"/>
          </a:solidFill>
          <a:latin typeface="+mn-lt"/>
          <a:ea typeface="+mn-ea"/>
          <a:cs typeface="+mn-cs"/>
        </a:defRPr>
      </a:lvl1pPr>
      <a:lvl2pPr marL="396000" indent="-252000" algn="l" defTabSz="257175" rtl="0" eaLnBrk="1" latinLnBrk="0" hangingPunct="1">
        <a:spcBef>
          <a:spcPts val="400"/>
        </a:spcBef>
        <a:spcAft>
          <a:spcPts val="3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506250" indent="-151875" algn="l" defTabSz="257175" rtl="0" eaLnBrk="1" latinLnBrk="0" hangingPunct="1">
        <a:spcBef>
          <a:spcPct val="20000"/>
        </a:spcBef>
        <a:spcAft>
          <a:spcPts val="338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98625" indent="-131625" algn="l" defTabSz="257175" rtl="0" eaLnBrk="1" latinLnBrk="0" hangingPunct="1">
        <a:spcBef>
          <a:spcPct val="20000"/>
        </a:spcBef>
        <a:spcAft>
          <a:spcPts val="338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01125" indent="-131625" algn="l" defTabSz="257175" rtl="0" eaLnBrk="1" latinLnBrk="0" hangingPunct="1">
        <a:spcBef>
          <a:spcPct val="20000"/>
        </a:spcBef>
        <a:spcAft>
          <a:spcPts val="338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068750" indent="-128588" algn="l" defTabSz="257175" rtl="0" eaLnBrk="1" latinLnBrk="0" hangingPunct="1">
        <a:spcBef>
          <a:spcPct val="20000"/>
        </a:spcBef>
        <a:spcAft>
          <a:spcPts val="338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675" kern="1200">
          <a:solidFill>
            <a:schemeClr val="tx2"/>
          </a:solidFill>
          <a:latin typeface="+mn-lt"/>
          <a:ea typeface="+mn-ea"/>
          <a:cs typeface="+mn-cs"/>
        </a:defRPr>
      </a:lvl6pPr>
      <a:lvl7pPr marL="1237500" indent="-128588" algn="l" defTabSz="257175" rtl="0" eaLnBrk="1" latinLnBrk="0" hangingPunct="1">
        <a:spcBef>
          <a:spcPct val="20000"/>
        </a:spcBef>
        <a:spcAft>
          <a:spcPts val="338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675" kern="1200">
          <a:solidFill>
            <a:schemeClr val="tx2"/>
          </a:solidFill>
          <a:latin typeface="+mn-lt"/>
          <a:ea typeface="+mn-ea"/>
          <a:cs typeface="+mn-cs"/>
        </a:defRPr>
      </a:lvl7pPr>
      <a:lvl8pPr marL="1406250" indent="-128588" algn="l" defTabSz="257175" rtl="0" eaLnBrk="1" latinLnBrk="0" hangingPunct="1">
        <a:spcBef>
          <a:spcPct val="20000"/>
        </a:spcBef>
        <a:spcAft>
          <a:spcPts val="338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675" kern="1200">
          <a:solidFill>
            <a:schemeClr val="tx2"/>
          </a:solidFill>
          <a:latin typeface="+mn-lt"/>
          <a:ea typeface="+mn-ea"/>
          <a:cs typeface="+mn-cs"/>
        </a:defRPr>
      </a:lvl8pPr>
      <a:lvl9pPr marL="1575000" indent="-128588" algn="l" defTabSz="257175" rtl="0" eaLnBrk="1" latinLnBrk="0" hangingPunct="1">
        <a:spcBef>
          <a:spcPct val="20000"/>
        </a:spcBef>
        <a:spcAft>
          <a:spcPts val="338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675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padelprojectfrontend.onrender.com/" TargetMode="Externa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2947" y="3752009"/>
            <a:ext cx="8245162" cy="147501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4000" noProof="0" dirty="0"/>
              <a:t>Padel Time</a:t>
            </a:r>
            <a:endParaRPr lang="hr-HR" sz="4000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09DD34-BFD2-8305-42BF-AA42E093F9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328" y="5227023"/>
            <a:ext cx="7772400" cy="590321"/>
          </a:xfrm>
        </p:spPr>
        <p:txBody>
          <a:bodyPr>
            <a:normAutofit lnSpcReduction="10000"/>
          </a:bodyPr>
          <a:lstStyle/>
          <a:p>
            <a:r>
              <a:rPr lang="hr-HR" sz="1400" noProof="0" dirty="0"/>
              <a:t>Tim:  TG </a:t>
            </a:r>
            <a:r>
              <a:rPr lang="en-GB" sz="1400" noProof="0" dirty="0"/>
              <a:t>12</a:t>
            </a:r>
            <a:r>
              <a:rPr lang="hr-HR" sz="1400" noProof="0" dirty="0"/>
              <a:t>.</a:t>
            </a:r>
            <a:r>
              <a:rPr lang="en-GB" sz="1400" noProof="0" dirty="0"/>
              <a:t>3</a:t>
            </a:r>
            <a:r>
              <a:rPr lang="hr-HR" sz="1400" noProof="0" dirty="0"/>
              <a:t> </a:t>
            </a:r>
            <a:r>
              <a:rPr lang="en-GB" sz="1400" noProof="0" dirty="0" err="1"/>
              <a:t>ServeIt</a:t>
            </a:r>
            <a:endParaRPr lang="hr-HR" sz="1400" noProof="0" dirty="0"/>
          </a:p>
          <a:p>
            <a:r>
              <a:rPr lang="hr-HR" noProof="0" dirty="0"/>
              <a:t>Ak. god. 2025./2025.</a:t>
            </a:r>
          </a:p>
        </p:txBody>
      </p:sp>
    </p:spTree>
    <p:extLst>
      <p:ext uri="{BB962C8B-B14F-4D97-AF65-F5344CB8AC3E}">
        <p14:creationId xmlns:p14="http://schemas.microsoft.com/office/powerpoint/2010/main" val="36578435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Sadržaj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noProof="0" dirty="0"/>
              <a:t>Opis zadatka</a:t>
            </a:r>
          </a:p>
          <a:p>
            <a:r>
              <a:rPr lang="hr-HR" noProof="0" dirty="0"/>
              <a:t>Pregled zahtjeva</a:t>
            </a:r>
          </a:p>
          <a:p>
            <a:r>
              <a:rPr lang="hr-HR" noProof="0" dirty="0"/>
              <a:t>Korišteni alati i tehnologije</a:t>
            </a:r>
          </a:p>
          <a:p>
            <a:r>
              <a:rPr lang="hr-HR" noProof="0" dirty="0"/>
              <a:t>Arhitektura</a:t>
            </a:r>
          </a:p>
          <a:p>
            <a:r>
              <a:rPr lang="hr-HR" noProof="0" dirty="0"/>
              <a:t>Organizacija rada </a:t>
            </a:r>
          </a:p>
          <a:p>
            <a:r>
              <a:rPr lang="hr-HR" noProof="0" dirty="0"/>
              <a:t>Iskustva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2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3075310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Sadržaj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6CB0F54-7862-2508-EDB2-877BCE4339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noProof="0" dirty="0"/>
              <a:t>Članovi tima</a:t>
            </a:r>
          </a:p>
          <a:p>
            <a:r>
              <a:rPr lang="hr-HR" noProof="0" dirty="0"/>
              <a:t>Cilj projekta</a:t>
            </a:r>
          </a:p>
          <a:p>
            <a:r>
              <a:rPr lang="hr-HR" noProof="0" dirty="0"/>
              <a:t>Analiza i oblikovanje sustava	</a:t>
            </a:r>
          </a:p>
          <a:p>
            <a:pPr lvl="1"/>
            <a:r>
              <a:rPr lang="hr-HR" noProof="0" dirty="0"/>
              <a:t>Zahtjevi</a:t>
            </a:r>
          </a:p>
          <a:p>
            <a:pPr lvl="1"/>
            <a:r>
              <a:rPr lang="hr-HR" noProof="0" dirty="0"/>
              <a:t>Arhitektura</a:t>
            </a:r>
          </a:p>
          <a:p>
            <a:r>
              <a:rPr lang="hr-HR" noProof="0" dirty="0"/>
              <a:t>Organizacija rada </a:t>
            </a:r>
          </a:p>
          <a:p>
            <a:r>
              <a:rPr lang="hr-HR" noProof="0" dirty="0"/>
              <a:t>Iskustva</a:t>
            </a:r>
          </a:p>
          <a:p>
            <a:endParaRPr lang="hr-HR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pPr/>
              <a:t>3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7125658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CCC5E-8F0C-4678-41F6-563B723DD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Članovi grupe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85B14-6D23-2394-890E-2F2CE06844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noProof="0" dirty="0"/>
              <a:t>Imena članova i odgovornosti</a:t>
            </a:r>
          </a:p>
          <a:p>
            <a:pPr marL="0" indent="0">
              <a:buNone/>
            </a:pPr>
            <a:r>
              <a:rPr lang="hr-HR" dirty="0"/>
              <a:t>Luka Juha – Voditelj, Full Stack</a:t>
            </a:r>
            <a:endParaRPr lang="en-GB" dirty="0"/>
          </a:p>
          <a:p>
            <a:pPr marL="0" indent="0">
              <a:buNone/>
            </a:pPr>
            <a:r>
              <a:rPr lang="hr-HR" dirty="0"/>
              <a:t>Antonio Glavanić – Full Stack</a:t>
            </a:r>
            <a:endParaRPr lang="en-GB" dirty="0"/>
          </a:p>
          <a:p>
            <a:pPr marL="0" indent="0">
              <a:buNone/>
            </a:pPr>
            <a:r>
              <a:rPr lang="hr-HR" dirty="0"/>
              <a:t>Vedran Hlupić – Frontend</a:t>
            </a:r>
            <a:endParaRPr lang="en-GB" dirty="0"/>
          </a:p>
          <a:p>
            <a:pPr marL="0" indent="0">
              <a:buNone/>
            </a:pPr>
            <a:r>
              <a:rPr lang="hr-HR" dirty="0"/>
              <a:t>Matej Brezović – Backend</a:t>
            </a:r>
            <a:endParaRPr lang="en-GB" dirty="0"/>
          </a:p>
          <a:p>
            <a:pPr marL="0" indent="0">
              <a:buNone/>
            </a:pPr>
            <a:r>
              <a:rPr lang="hr-HR" dirty="0"/>
              <a:t>Josip Viktor Žagar – Backend</a:t>
            </a:r>
            <a:endParaRPr lang="en-GB" dirty="0"/>
          </a:p>
          <a:p>
            <a:pPr marL="0" indent="0">
              <a:buNone/>
            </a:pPr>
            <a:r>
              <a:rPr lang="hr-HR" dirty="0"/>
              <a:t>Armin Kadrić - Database + QA testing</a:t>
            </a:r>
            <a:endParaRPr lang="en-GB" dirty="0"/>
          </a:p>
          <a:p>
            <a:pPr marL="0" indent="0">
              <a:buNone/>
            </a:pPr>
            <a:r>
              <a:rPr lang="hr-HR" dirty="0"/>
              <a:t>Gabriel Franković – Frontend</a:t>
            </a:r>
            <a:endParaRPr lang="hr-HR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8E38AF-35BC-BD40-AC94-1AB4341B3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4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0351510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A0B7E-6D2D-545E-3942-807E5763C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999" y="36000"/>
            <a:ext cx="7920000" cy="828262"/>
          </a:xfrm>
        </p:spPr>
        <p:txBody>
          <a:bodyPr/>
          <a:lstStyle/>
          <a:p>
            <a:r>
              <a:rPr lang="hr-HR" noProof="0" dirty="0"/>
              <a:t>O projektu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DC0A7-2EBE-B97D-F71C-97BD62047F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99" y="972000"/>
            <a:ext cx="9000000" cy="5400000"/>
          </a:xfrm>
        </p:spPr>
        <p:txBody>
          <a:bodyPr>
            <a:normAutofit/>
          </a:bodyPr>
          <a:lstStyle/>
          <a:p>
            <a:pPr lvl="0"/>
            <a:r>
              <a:rPr lang="en-GB" altLang="sr-Latn-RS" dirty="0" err="1"/>
              <a:t>Aplikacija</a:t>
            </a:r>
            <a:r>
              <a:rPr lang="en-GB" altLang="sr-Latn-RS" dirty="0"/>
              <a:t> </a:t>
            </a:r>
            <a:r>
              <a:rPr lang="en-GB" altLang="sr-Latn-RS" dirty="0" err="1"/>
              <a:t>rješava</a:t>
            </a:r>
            <a:r>
              <a:rPr lang="en-GB" altLang="sr-Latn-RS" dirty="0"/>
              <a:t> problem </a:t>
            </a:r>
            <a:r>
              <a:rPr lang="en-GB" altLang="sr-Latn-RS" dirty="0" err="1"/>
              <a:t>nekonzistentnog</a:t>
            </a:r>
            <a:r>
              <a:rPr lang="en-GB" altLang="sr-Latn-RS" dirty="0"/>
              <a:t> </a:t>
            </a:r>
            <a:r>
              <a:rPr lang="en-GB" altLang="sr-Latn-RS" dirty="0" err="1"/>
              <a:t>načina</a:t>
            </a:r>
            <a:r>
              <a:rPr lang="en-GB" altLang="sr-Latn-RS" dirty="0"/>
              <a:t> </a:t>
            </a:r>
            <a:r>
              <a:rPr lang="en-GB" altLang="sr-Latn-RS" dirty="0" err="1"/>
              <a:t>rezerviranja</a:t>
            </a:r>
            <a:r>
              <a:rPr lang="en-GB" altLang="sr-Latn-RS" dirty="0"/>
              <a:t> termina, </a:t>
            </a:r>
            <a:r>
              <a:rPr lang="en-GB" altLang="sr-Latn-RS" dirty="0" err="1"/>
              <a:t>nudi</a:t>
            </a:r>
            <a:r>
              <a:rPr lang="en-GB" altLang="sr-Latn-RS" dirty="0"/>
              <a:t> </a:t>
            </a:r>
            <a:r>
              <a:rPr lang="en-GB" altLang="sr-Latn-RS" dirty="0" err="1"/>
              <a:t>korisnicima</a:t>
            </a:r>
            <a:r>
              <a:rPr lang="en-GB" altLang="sr-Latn-RS" dirty="0"/>
              <a:t> </a:t>
            </a:r>
            <a:r>
              <a:rPr lang="en-GB" altLang="sr-Latn-RS" dirty="0" err="1"/>
              <a:t>lako</a:t>
            </a:r>
            <a:r>
              <a:rPr lang="en-GB" altLang="sr-Latn-RS" dirty="0"/>
              <a:t> </a:t>
            </a:r>
            <a:r>
              <a:rPr lang="en-GB" altLang="sr-Latn-RS" dirty="0" err="1"/>
              <a:t>rezerviranje</a:t>
            </a:r>
            <a:r>
              <a:rPr lang="en-GB" altLang="sr-Latn-RS" dirty="0"/>
              <a:t> termina za padel bez </a:t>
            </a:r>
            <a:r>
              <a:rPr lang="en-GB" altLang="sr-Latn-RS" dirty="0" err="1"/>
              <a:t>potrebe</a:t>
            </a:r>
            <a:r>
              <a:rPr lang="en-GB" altLang="sr-Latn-RS" dirty="0"/>
              <a:t> za </a:t>
            </a:r>
            <a:r>
              <a:rPr lang="en-GB" altLang="sr-Latn-RS" dirty="0" err="1"/>
              <a:t>telefonskim</a:t>
            </a:r>
            <a:r>
              <a:rPr lang="en-GB" altLang="sr-Latn-RS" dirty="0"/>
              <a:t> </a:t>
            </a:r>
            <a:r>
              <a:rPr lang="en-GB" altLang="sr-Latn-RS" dirty="0" err="1"/>
              <a:t>pozivima</a:t>
            </a:r>
            <a:r>
              <a:rPr lang="en-GB" altLang="sr-Latn-RS" dirty="0"/>
              <a:t>, a </a:t>
            </a:r>
            <a:r>
              <a:rPr lang="en-GB" altLang="sr-Latn-RS" dirty="0" err="1"/>
              <a:t>klubovima</a:t>
            </a:r>
            <a:r>
              <a:rPr lang="en-GB" altLang="sr-Latn-RS" dirty="0"/>
              <a:t> </a:t>
            </a:r>
            <a:r>
              <a:rPr lang="en-GB" altLang="sr-Latn-RS" dirty="0" err="1"/>
              <a:t>bolju</a:t>
            </a:r>
            <a:r>
              <a:rPr lang="en-GB" altLang="sr-Latn-RS" dirty="0"/>
              <a:t> </a:t>
            </a:r>
            <a:r>
              <a:rPr lang="en-GB" altLang="sr-Latn-RS" dirty="0" err="1"/>
              <a:t>organiziranost</a:t>
            </a:r>
            <a:r>
              <a:rPr lang="en-GB" altLang="sr-Latn-RS" dirty="0"/>
              <a:t> </a:t>
            </a:r>
            <a:r>
              <a:rPr lang="en-GB" altLang="sr-Latn-RS" dirty="0" err="1"/>
              <a:t>i</a:t>
            </a:r>
            <a:r>
              <a:rPr lang="en-GB" altLang="sr-Latn-RS" dirty="0"/>
              <a:t> </a:t>
            </a:r>
            <a:r>
              <a:rPr lang="en-GB" altLang="sr-Latn-RS" dirty="0" err="1"/>
              <a:t>jasniji</a:t>
            </a:r>
            <a:r>
              <a:rPr lang="en-GB" altLang="sr-Latn-RS" dirty="0"/>
              <a:t> </a:t>
            </a:r>
            <a:r>
              <a:rPr lang="en-GB" altLang="sr-Latn-RS" dirty="0" err="1"/>
              <a:t>prikaz</a:t>
            </a:r>
            <a:r>
              <a:rPr lang="en-GB" altLang="sr-Latn-RS" dirty="0"/>
              <a:t> </a:t>
            </a:r>
            <a:r>
              <a:rPr lang="en-GB" altLang="sr-Latn-RS" dirty="0" err="1"/>
              <a:t>slobodnih</a:t>
            </a:r>
            <a:r>
              <a:rPr lang="en-GB" altLang="sr-Latn-RS" dirty="0"/>
              <a:t> termina.</a:t>
            </a:r>
          </a:p>
          <a:p>
            <a:pPr lvl="0"/>
            <a:r>
              <a:rPr lang="en-GB" altLang="sr-Latn-RS" dirty="0" err="1"/>
              <a:t>Postoje</a:t>
            </a:r>
            <a:r>
              <a:rPr lang="en-GB" altLang="sr-Latn-RS" dirty="0"/>
              <a:t> </a:t>
            </a:r>
            <a:r>
              <a:rPr lang="en-GB" altLang="sr-Latn-RS" dirty="0" err="1"/>
              <a:t>slična</a:t>
            </a:r>
            <a:r>
              <a:rPr lang="en-GB" altLang="sr-Latn-RS" dirty="0"/>
              <a:t> </a:t>
            </a:r>
            <a:r>
              <a:rPr lang="en-GB" altLang="sr-Latn-RS" dirty="0" err="1"/>
              <a:t>rješenja</a:t>
            </a:r>
            <a:r>
              <a:rPr lang="en-GB" altLang="sr-Latn-RS" dirty="0"/>
              <a:t> (</a:t>
            </a:r>
            <a:r>
              <a:rPr lang="en-GB" altLang="sr-Latn-RS" dirty="0" err="1"/>
              <a:t>npr</a:t>
            </a:r>
            <a:r>
              <a:rPr lang="en-GB" altLang="sr-Latn-RS" dirty="0"/>
              <a:t>. </a:t>
            </a:r>
            <a:r>
              <a:rPr lang="en-GB" altLang="sr-Latn-RS" dirty="0" err="1"/>
              <a:t>Playtmic</a:t>
            </a:r>
            <a:r>
              <a:rPr lang="en-GB" altLang="sr-Latn-RS" dirty="0"/>
              <a:t>, </a:t>
            </a:r>
            <a:r>
              <a:rPr lang="en-GB" altLang="sr-Latn-RS" dirty="0" err="1"/>
              <a:t>Havefun</a:t>
            </a:r>
            <a:r>
              <a:rPr lang="en-GB" altLang="sr-Latn-RS" dirty="0"/>
              <a:t> </a:t>
            </a:r>
            <a:r>
              <a:rPr lang="en-GB" altLang="sr-Latn-RS" dirty="0" err="1"/>
              <a:t>itd</a:t>
            </a:r>
            <a:r>
              <a:rPr lang="en-GB" altLang="sr-Latn-RS" dirty="0"/>
              <a:t>.), </a:t>
            </a:r>
            <a:r>
              <a:rPr lang="en-GB" altLang="sr-Latn-RS" dirty="0" err="1"/>
              <a:t>ali</a:t>
            </a:r>
            <a:r>
              <a:rPr lang="en-GB" altLang="sr-Latn-RS" dirty="0"/>
              <a:t> </a:t>
            </a:r>
            <a:r>
              <a:rPr lang="en-GB" altLang="sr-Latn-RS" dirty="0" err="1"/>
              <a:t>naša</a:t>
            </a:r>
            <a:r>
              <a:rPr lang="en-GB" altLang="sr-Latn-RS" dirty="0"/>
              <a:t> </a:t>
            </a:r>
            <a:r>
              <a:rPr lang="en-GB" altLang="sr-Latn-RS" dirty="0" err="1"/>
              <a:t>aplikacija</a:t>
            </a:r>
            <a:r>
              <a:rPr lang="en-GB" altLang="sr-Latn-RS" dirty="0"/>
              <a:t> je </a:t>
            </a:r>
            <a:r>
              <a:rPr lang="en-GB" altLang="sr-Latn-RS" dirty="0" err="1"/>
              <a:t>optimizirana</a:t>
            </a:r>
            <a:r>
              <a:rPr lang="en-GB" altLang="sr-Latn-RS" dirty="0"/>
              <a:t> za </a:t>
            </a:r>
            <a:r>
              <a:rPr lang="en-GB" altLang="sr-Latn-RS" dirty="0" err="1"/>
              <a:t>hrvatske</a:t>
            </a:r>
            <a:r>
              <a:rPr lang="en-GB" altLang="sr-Latn-RS" dirty="0"/>
              <a:t> </a:t>
            </a:r>
            <a:r>
              <a:rPr lang="en-GB" altLang="sr-Latn-RS" dirty="0" err="1"/>
              <a:t>korisnike</a:t>
            </a:r>
            <a:r>
              <a:rPr lang="en-GB" altLang="sr-Latn-RS" dirty="0"/>
              <a:t>.</a:t>
            </a:r>
          </a:p>
          <a:p>
            <a:pPr lvl="0"/>
            <a:endParaRPr lang="hr-HR" altLang="sr-Latn-R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E24A85-3B76-EBCB-772E-CD8CF3165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9260" y="6501038"/>
            <a:ext cx="475056" cy="288000"/>
          </a:xfrm>
        </p:spPr>
        <p:txBody>
          <a:bodyPr/>
          <a:lstStyle/>
          <a:p>
            <a:fld id="{FAA41844-C0CA-4144-9D6C-D993F0C0FAB4}" type="slidenum">
              <a:rPr lang="hr-HR" smtClean="0"/>
              <a:pPr/>
              <a:t>5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8394098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64F0A-C843-C619-8DA1-5EE565F95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PREGLED ZAHTJEVA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A1E987-3331-9FDA-773B-8772D36C5D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GLAVNI FUNKCIONALNI ZAHTJEVI</a:t>
            </a:r>
          </a:p>
          <a:p>
            <a:r>
              <a:rPr lang="en-GB" dirty="0"/>
              <a:t>F-002 Login.</a:t>
            </a:r>
          </a:p>
          <a:p>
            <a:pPr lvl="1"/>
            <a:r>
              <a:rPr lang="en-GB" dirty="0" err="1"/>
              <a:t>Korisnici</a:t>
            </a:r>
            <a:r>
              <a:rPr lang="en-GB" dirty="0"/>
              <a:t> se </a:t>
            </a:r>
            <a:r>
              <a:rPr lang="en-GB" dirty="0" err="1"/>
              <a:t>mogu</a:t>
            </a:r>
            <a:r>
              <a:rPr lang="en-GB" dirty="0"/>
              <a:t> </a:t>
            </a:r>
            <a:r>
              <a:rPr lang="en-GB" dirty="0" err="1"/>
              <a:t>ulogirati</a:t>
            </a:r>
            <a:r>
              <a:rPr lang="en-GB" dirty="0"/>
              <a:t> u </a:t>
            </a:r>
            <a:r>
              <a:rPr lang="en-GB" dirty="0" err="1"/>
              <a:t>aplikaciju</a:t>
            </a:r>
            <a:r>
              <a:rPr lang="en-GB" dirty="0"/>
              <a:t> </a:t>
            </a:r>
            <a:r>
              <a:rPr lang="en-GB" dirty="0" err="1"/>
              <a:t>kao</a:t>
            </a:r>
            <a:r>
              <a:rPr lang="en-GB" dirty="0"/>
              <a:t> </a:t>
            </a:r>
            <a:r>
              <a:rPr lang="en-GB" dirty="0" err="1"/>
              <a:t>igrač</a:t>
            </a:r>
            <a:r>
              <a:rPr lang="en-GB" dirty="0"/>
              <a:t> </a:t>
            </a:r>
            <a:r>
              <a:rPr lang="en-GB" dirty="0" err="1"/>
              <a:t>ili</a:t>
            </a:r>
            <a:r>
              <a:rPr lang="en-GB" dirty="0"/>
              <a:t> </a:t>
            </a:r>
            <a:r>
              <a:rPr lang="en-GB" dirty="0" err="1"/>
              <a:t>klub</a:t>
            </a:r>
            <a:r>
              <a:rPr lang="en-GB" dirty="0"/>
              <a:t>.</a:t>
            </a:r>
          </a:p>
          <a:p>
            <a:r>
              <a:rPr lang="en-GB" dirty="0"/>
              <a:t>F-006.1 </a:t>
            </a:r>
            <a:r>
              <a:rPr lang="en-GB" dirty="0" err="1"/>
              <a:t>Stvaranje</a:t>
            </a:r>
            <a:r>
              <a:rPr lang="en-GB" dirty="0"/>
              <a:t> termina.</a:t>
            </a:r>
          </a:p>
          <a:p>
            <a:pPr lvl="1"/>
            <a:r>
              <a:rPr lang="en-GB" dirty="0" err="1"/>
              <a:t>Klubovi</a:t>
            </a:r>
            <a:r>
              <a:rPr lang="en-GB" dirty="0"/>
              <a:t> </a:t>
            </a:r>
            <a:r>
              <a:rPr lang="en-GB" dirty="0" err="1"/>
              <a:t>mogu</a:t>
            </a:r>
            <a:r>
              <a:rPr lang="en-GB" dirty="0"/>
              <a:t> </a:t>
            </a:r>
            <a:r>
              <a:rPr lang="en-GB" dirty="0" err="1"/>
              <a:t>stvoriti</a:t>
            </a:r>
            <a:r>
              <a:rPr lang="en-GB" dirty="0"/>
              <a:t> </a:t>
            </a:r>
            <a:r>
              <a:rPr lang="en-GB" dirty="0" err="1"/>
              <a:t>termine</a:t>
            </a:r>
            <a:r>
              <a:rPr lang="en-GB" dirty="0"/>
              <a:t> </a:t>
            </a:r>
            <a:r>
              <a:rPr lang="en-GB" dirty="0" err="1"/>
              <a:t>na</a:t>
            </a:r>
            <a:r>
              <a:rPr lang="en-GB" dirty="0"/>
              <a:t> </a:t>
            </a:r>
            <a:r>
              <a:rPr lang="en-GB" dirty="0" err="1"/>
              <a:t>određenom</a:t>
            </a:r>
            <a:r>
              <a:rPr lang="en-GB" dirty="0"/>
              <a:t> </a:t>
            </a:r>
            <a:r>
              <a:rPr lang="en-GB" dirty="0" err="1"/>
              <a:t>terenu</a:t>
            </a:r>
            <a:r>
              <a:rPr lang="en-GB" dirty="0"/>
              <a:t> u </a:t>
            </a:r>
            <a:r>
              <a:rPr lang="en-GB" dirty="0" err="1"/>
              <a:t>određeno</a:t>
            </a:r>
            <a:r>
              <a:rPr lang="en-GB" dirty="0"/>
              <a:t> </a:t>
            </a:r>
            <a:r>
              <a:rPr lang="en-GB" dirty="0" err="1"/>
              <a:t>vrijeme</a:t>
            </a:r>
            <a:r>
              <a:rPr lang="en-GB" dirty="0"/>
              <a:t>.</a:t>
            </a:r>
          </a:p>
          <a:p>
            <a:r>
              <a:rPr lang="en-GB" dirty="0"/>
              <a:t>F-010.1 </a:t>
            </a:r>
            <a:r>
              <a:rPr lang="en-GB" dirty="0" err="1"/>
              <a:t>Igrači</a:t>
            </a:r>
            <a:r>
              <a:rPr lang="en-GB" dirty="0"/>
              <a:t> </a:t>
            </a:r>
            <a:r>
              <a:rPr lang="en-GB" dirty="0" err="1"/>
              <a:t>mogu</a:t>
            </a:r>
            <a:r>
              <a:rPr lang="en-GB" dirty="0"/>
              <a:t> </a:t>
            </a:r>
            <a:r>
              <a:rPr lang="en-GB" dirty="0" err="1"/>
              <a:t>rezervirati</a:t>
            </a:r>
            <a:r>
              <a:rPr lang="en-GB" dirty="0"/>
              <a:t> </a:t>
            </a:r>
            <a:r>
              <a:rPr lang="en-GB" dirty="0" err="1"/>
              <a:t>termine</a:t>
            </a:r>
            <a:r>
              <a:rPr lang="en-GB" dirty="0"/>
              <a:t> </a:t>
            </a:r>
            <a:r>
              <a:rPr lang="en-GB" dirty="0" err="1"/>
              <a:t>preko</a:t>
            </a:r>
            <a:r>
              <a:rPr lang="en-GB" dirty="0"/>
              <a:t> </a:t>
            </a:r>
            <a:r>
              <a:rPr lang="en-GB" dirty="0" err="1"/>
              <a:t>aplikacije</a:t>
            </a:r>
            <a:r>
              <a:rPr lang="en-GB" dirty="0"/>
              <a:t>.</a:t>
            </a:r>
          </a:p>
          <a:p>
            <a:pPr lvl="1"/>
            <a:r>
              <a:rPr lang="en-GB" dirty="0" err="1"/>
              <a:t>Nakon</a:t>
            </a:r>
            <a:r>
              <a:rPr lang="en-GB" dirty="0"/>
              <a:t> </a:t>
            </a:r>
            <a:r>
              <a:rPr lang="en-GB" dirty="0" err="1"/>
              <a:t>odabira</a:t>
            </a:r>
            <a:r>
              <a:rPr lang="en-GB" dirty="0"/>
              <a:t> termina, </a:t>
            </a:r>
            <a:r>
              <a:rPr lang="en-GB" dirty="0" err="1"/>
              <a:t>sustav</a:t>
            </a:r>
            <a:r>
              <a:rPr lang="en-GB" dirty="0"/>
              <a:t> </a:t>
            </a:r>
            <a:r>
              <a:rPr lang="en-GB" dirty="0" err="1"/>
              <a:t>prikazuje</a:t>
            </a:r>
            <a:r>
              <a:rPr lang="en-GB" dirty="0"/>
              <a:t> </a:t>
            </a:r>
            <a:r>
              <a:rPr lang="en-GB" dirty="0" err="1"/>
              <a:t>potvrdu</a:t>
            </a:r>
            <a:r>
              <a:rPr lang="en-GB" dirty="0"/>
              <a:t> o </a:t>
            </a:r>
            <a:r>
              <a:rPr lang="en-GB" dirty="0" err="1"/>
              <a:t>uspješnoj</a:t>
            </a:r>
            <a:r>
              <a:rPr lang="en-GB" dirty="0"/>
              <a:t> </a:t>
            </a:r>
            <a:r>
              <a:rPr lang="en-GB" dirty="0" err="1"/>
              <a:t>rezervaciji</a:t>
            </a:r>
            <a:r>
              <a:rPr lang="en-GB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0C9914-58D2-3118-C9C2-86043A43E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6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8849625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90F24-031E-C49E-9F16-EEB51C28D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Pregled</a:t>
            </a:r>
            <a:r>
              <a:rPr lang="en-GB" dirty="0"/>
              <a:t> </a:t>
            </a:r>
            <a:r>
              <a:rPr lang="en-GB" dirty="0" err="1"/>
              <a:t>zahtjeva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7B6405-300F-FE8A-922E-A919328C85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NF-1.2	</a:t>
            </a:r>
            <a:r>
              <a:rPr lang="en-GB" dirty="0" err="1"/>
              <a:t>Sustav</a:t>
            </a:r>
            <a:r>
              <a:rPr lang="en-GB" dirty="0"/>
              <a:t> </a:t>
            </a:r>
            <a:r>
              <a:rPr lang="en-GB" dirty="0" err="1"/>
              <a:t>treba</a:t>
            </a:r>
            <a:r>
              <a:rPr lang="en-GB" dirty="0"/>
              <a:t> </a:t>
            </a:r>
            <a:r>
              <a:rPr lang="en-GB" dirty="0" err="1"/>
              <a:t>podržavati</a:t>
            </a:r>
            <a:r>
              <a:rPr lang="en-GB" dirty="0"/>
              <a:t> rad </a:t>
            </a:r>
            <a:r>
              <a:rPr lang="en-GB" dirty="0" err="1"/>
              <a:t>više</a:t>
            </a:r>
            <a:r>
              <a:rPr lang="en-GB" dirty="0"/>
              <a:t> </a:t>
            </a:r>
            <a:r>
              <a:rPr lang="en-GB" dirty="0" err="1"/>
              <a:t>korisnika</a:t>
            </a:r>
            <a:r>
              <a:rPr lang="en-GB" dirty="0"/>
              <a:t> u </a:t>
            </a:r>
            <a:r>
              <a:rPr lang="en-GB" dirty="0" err="1"/>
              <a:t>stvarnom</a:t>
            </a:r>
            <a:r>
              <a:rPr lang="en-GB" dirty="0"/>
              <a:t> </a:t>
            </a:r>
            <a:r>
              <a:rPr lang="en-GB" dirty="0" err="1"/>
              <a:t>vremenu</a:t>
            </a:r>
            <a:r>
              <a:rPr lang="en-GB" dirty="0"/>
              <a:t>.</a:t>
            </a:r>
          </a:p>
          <a:p>
            <a:r>
              <a:rPr lang="en-GB" dirty="0"/>
              <a:t>NF-2.1	</a:t>
            </a:r>
            <a:r>
              <a:rPr lang="en-GB" dirty="0" err="1"/>
              <a:t>Autorizacija</a:t>
            </a:r>
            <a:r>
              <a:rPr lang="en-GB" dirty="0"/>
              <a:t> </a:t>
            </a:r>
            <a:r>
              <a:rPr lang="en-GB" dirty="0" err="1"/>
              <a:t>korisnika</a:t>
            </a:r>
            <a:r>
              <a:rPr lang="en-GB" dirty="0"/>
              <a:t> mora </a:t>
            </a:r>
            <a:r>
              <a:rPr lang="en-GB" dirty="0" err="1"/>
              <a:t>biti</a:t>
            </a:r>
            <a:r>
              <a:rPr lang="en-GB" dirty="0"/>
              <a:t> </a:t>
            </a:r>
            <a:r>
              <a:rPr lang="en-GB" dirty="0" err="1"/>
              <a:t>provedena</a:t>
            </a:r>
            <a:r>
              <a:rPr lang="en-GB" dirty="0"/>
              <a:t> </a:t>
            </a:r>
            <a:r>
              <a:rPr lang="en-GB" dirty="0" err="1"/>
              <a:t>pomoću</a:t>
            </a:r>
            <a:r>
              <a:rPr lang="en-GB" dirty="0"/>
              <a:t> OAuth 2.0 </a:t>
            </a:r>
            <a:r>
              <a:rPr lang="en-GB" dirty="0" err="1"/>
              <a:t>protokola</a:t>
            </a:r>
            <a:r>
              <a:rPr lang="en-GB" dirty="0"/>
              <a:t> </a:t>
            </a:r>
            <a:r>
              <a:rPr lang="en-GB" dirty="0" err="1"/>
              <a:t>koristeći</a:t>
            </a:r>
            <a:r>
              <a:rPr lang="en-GB" dirty="0"/>
              <a:t> </a:t>
            </a:r>
            <a:r>
              <a:rPr lang="en-GB" dirty="0" err="1"/>
              <a:t>tokene</a:t>
            </a:r>
            <a:r>
              <a:rPr lang="en-GB" dirty="0"/>
              <a:t>.</a:t>
            </a:r>
          </a:p>
          <a:p>
            <a:r>
              <a:rPr lang="en-GB" dirty="0"/>
              <a:t>NF-4.1	</a:t>
            </a:r>
            <a:r>
              <a:rPr lang="en-GB" dirty="0" err="1"/>
              <a:t>Korisničko</a:t>
            </a:r>
            <a:r>
              <a:rPr lang="en-GB" dirty="0"/>
              <a:t> </a:t>
            </a:r>
            <a:r>
              <a:rPr lang="en-GB" dirty="0" err="1"/>
              <a:t>sučelje</a:t>
            </a:r>
            <a:r>
              <a:rPr lang="en-GB" dirty="0"/>
              <a:t> mora </a:t>
            </a:r>
            <a:r>
              <a:rPr lang="en-GB" dirty="0" err="1"/>
              <a:t>biti</a:t>
            </a:r>
            <a:r>
              <a:rPr lang="en-GB" dirty="0"/>
              <a:t> </a:t>
            </a:r>
            <a:r>
              <a:rPr lang="en-GB" dirty="0" err="1"/>
              <a:t>kvalitetno</a:t>
            </a:r>
            <a:r>
              <a:rPr lang="en-GB" dirty="0"/>
              <a:t>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intuitivno</a:t>
            </a:r>
            <a:r>
              <a:rPr lang="en-GB" dirty="0"/>
              <a:t> za </a:t>
            </a:r>
            <a:r>
              <a:rPr lang="en-GB" dirty="0" err="1"/>
              <a:t>korištenje</a:t>
            </a:r>
            <a:r>
              <a:rPr lang="en-GB" dirty="0"/>
              <a:t>.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5574AB-6F75-56B1-F676-6953CDD52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7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835591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B194B-73FA-DAD6-728F-E14212BE2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r-HR" noProof="0" dirty="0"/>
              <a:t>UML dijagram obrazaca uporabe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EE1D33-6016-014F-7976-CC3BF83E4A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r-HR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90CEC8-0F4C-E99E-FC93-F08F526E7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8</a:t>
            </a:fld>
            <a:endParaRPr lang="hr-HR" dirty="0"/>
          </a:p>
        </p:txBody>
      </p:sp>
      <p:pic>
        <p:nvPicPr>
          <p:cNvPr id="2050" name="Picture 2" descr="Cjelokupni pogled">
            <a:extLst>
              <a:ext uri="{FF2B5EF4-FFF2-40B4-BE49-F238E27FC236}">
                <a16:creationId xmlns:a16="http://schemas.microsoft.com/office/drawing/2014/main" id="{1DB34AE0-1EB4-8526-8C1E-F12BDBD143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1060213"/>
            <a:ext cx="9144000" cy="5584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12444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Arhitektura sustava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9</a:t>
            </a:fld>
            <a:endParaRPr lang="hr-HR" dirty="0"/>
          </a:p>
        </p:txBody>
      </p:sp>
      <p:pic>
        <p:nvPicPr>
          <p:cNvPr id="3076" name="Picture 4" descr="Snimka zaslona (1254)">
            <a:extLst>
              <a:ext uri="{FF2B5EF4-FFF2-40B4-BE49-F238E27FC236}">
                <a16:creationId xmlns:a16="http://schemas.microsoft.com/office/drawing/2014/main" id="{9566BFD1-4823-F551-069D-BB0E156EB80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00363"/>
            <a:ext cx="8108350" cy="540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73544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43278-3D25-FEF7-4D6D-B4CA3FBE5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Ispitivanje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003D6B-82AC-E000-ED08-E246EC190B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 err="1"/>
              <a:t>Testovi</a:t>
            </a:r>
            <a:r>
              <a:rPr lang="en-GB" noProof="0" dirty="0"/>
              <a:t> se </a:t>
            </a:r>
            <a:r>
              <a:rPr lang="en-GB" noProof="0" dirty="0" err="1"/>
              <a:t>nalaze</a:t>
            </a:r>
            <a:r>
              <a:rPr lang="en-GB" noProof="0" dirty="0"/>
              <a:t> u folder-u frontend/tests </a:t>
            </a:r>
          </a:p>
          <a:p>
            <a:pPr lvl="1"/>
            <a:r>
              <a:rPr lang="en-GB" dirty="0" err="1"/>
              <a:t>Sadrži</a:t>
            </a:r>
            <a:r>
              <a:rPr lang="en-GB" dirty="0"/>
              <a:t> 6 </a:t>
            </a:r>
            <a:r>
              <a:rPr lang="en-GB" dirty="0" err="1"/>
              <a:t>testova</a:t>
            </a:r>
            <a:r>
              <a:rPr lang="en-GB" dirty="0"/>
              <a:t> </a:t>
            </a:r>
            <a:r>
              <a:rPr lang="en-GB" dirty="0" err="1"/>
              <a:t>komponenti</a:t>
            </a:r>
            <a:r>
              <a:rPr lang="en-GB" dirty="0"/>
              <a:t>:</a:t>
            </a:r>
          </a:p>
          <a:p>
            <a:pPr lvl="2"/>
            <a:r>
              <a:rPr lang="en-GB" dirty="0"/>
              <a:t>Api </a:t>
            </a:r>
          </a:p>
          <a:p>
            <a:pPr lvl="2"/>
            <a:r>
              <a:rPr lang="en-GB" dirty="0" err="1"/>
              <a:t>formatDate</a:t>
            </a:r>
            <a:r>
              <a:rPr lang="en-GB" dirty="0"/>
              <a:t> </a:t>
            </a:r>
          </a:p>
          <a:p>
            <a:pPr lvl="2"/>
            <a:r>
              <a:rPr lang="en-GB" dirty="0" err="1"/>
              <a:t>formatDateTime</a:t>
            </a:r>
            <a:r>
              <a:rPr lang="en-GB" dirty="0"/>
              <a:t> </a:t>
            </a:r>
          </a:p>
          <a:p>
            <a:pPr lvl="2"/>
            <a:r>
              <a:rPr lang="en-GB" dirty="0" err="1"/>
              <a:t>getDaysRemaining</a:t>
            </a:r>
            <a:endParaRPr lang="en-GB" dirty="0"/>
          </a:p>
          <a:p>
            <a:pPr lvl="2"/>
            <a:r>
              <a:rPr lang="en-GB" dirty="0"/>
              <a:t>Models</a:t>
            </a:r>
          </a:p>
          <a:p>
            <a:pPr lvl="2"/>
            <a:r>
              <a:rPr lang="en-GB" dirty="0" err="1"/>
              <a:t>renderStars</a:t>
            </a:r>
            <a:endParaRPr lang="en-GB" dirty="0"/>
          </a:p>
          <a:p>
            <a:pPr lvl="1"/>
            <a:r>
              <a:rPr lang="en-GB" noProof="0" dirty="0"/>
              <a:t>4 </a:t>
            </a:r>
            <a:r>
              <a:rPr lang="en-GB" noProof="0" dirty="0" err="1"/>
              <a:t>testa</a:t>
            </a:r>
            <a:r>
              <a:rPr lang="en-GB" noProof="0" dirty="0"/>
              <a:t> za </a:t>
            </a:r>
            <a:r>
              <a:rPr lang="en-GB" noProof="0" dirty="0" err="1"/>
              <a:t>ispitivanje</a:t>
            </a:r>
            <a:r>
              <a:rPr lang="en-GB" noProof="0" dirty="0"/>
              <a:t> </a:t>
            </a:r>
            <a:r>
              <a:rPr lang="en-GB" noProof="0" dirty="0" err="1"/>
              <a:t>sustava</a:t>
            </a:r>
            <a:r>
              <a:rPr lang="en-GB" noProof="0" dirty="0"/>
              <a:t>:</a:t>
            </a:r>
          </a:p>
          <a:p>
            <a:pPr lvl="1"/>
            <a:r>
              <a:rPr lang="en-GB" dirty="0"/>
              <a:t>Auth</a:t>
            </a:r>
          </a:p>
          <a:p>
            <a:pPr lvl="1"/>
            <a:r>
              <a:rPr lang="en-GB" noProof="0" dirty="0"/>
              <a:t>Booking</a:t>
            </a:r>
          </a:p>
          <a:p>
            <a:pPr lvl="1"/>
            <a:r>
              <a:rPr lang="en-GB" dirty="0"/>
              <a:t>Crud</a:t>
            </a:r>
          </a:p>
          <a:p>
            <a:pPr lvl="1"/>
            <a:r>
              <a:rPr lang="en-GB" noProof="0" dirty="0" err="1"/>
              <a:t>searchFilter</a:t>
            </a:r>
            <a:endParaRPr lang="en-GB" noProof="0" dirty="0"/>
          </a:p>
          <a:p>
            <a:pPr marL="144000" lvl="1" indent="0">
              <a:buNone/>
            </a:pPr>
            <a:endParaRPr lang="en-GB" noProof="0" dirty="0"/>
          </a:p>
          <a:p>
            <a:pPr lvl="1"/>
            <a:endParaRPr lang="hr-HR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02A5A4-7F29-94F6-4C85-99B20512A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10</a:t>
            </a:fld>
            <a:endParaRPr lang="hr-HR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27052B4D-C2FC-415A-C070-E9539225110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45" r="57760"/>
          <a:stretch/>
        </p:blipFill>
        <p:spPr bwMode="auto">
          <a:xfrm>
            <a:off x="2666092" y="1890073"/>
            <a:ext cx="2925009" cy="2005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A6D0DB70-08FF-2247-BEC6-EDE8D86BB8A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764" r="22622"/>
          <a:stretch/>
        </p:blipFill>
        <p:spPr bwMode="auto">
          <a:xfrm>
            <a:off x="2542734" y="4458879"/>
            <a:ext cx="5328648" cy="1175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17372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5B30C-50EF-E7F9-5A93-7EED51F42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Korišteni alati i tehnologije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F4186A-F439-DA8C-7525-155E41A9D1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01	JavaScript	Node.js 22.16.0</a:t>
            </a:r>
          </a:p>
          <a:p>
            <a:r>
              <a:rPr lang="en-GB" dirty="0"/>
              <a:t>01	Python	3.13.2	</a:t>
            </a:r>
          </a:p>
          <a:p>
            <a:r>
              <a:rPr lang="en-GB" dirty="0"/>
              <a:t>03	Django	5.2.7	</a:t>
            </a:r>
          </a:p>
          <a:p>
            <a:r>
              <a:rPr lang="en-GB" dirty="0"/>
              <a:t>04	Django REST framework	3.16.1	</a:t>
            </a:r>
          </a:p>
          <a:p>
            <a:r>
              <a:rPr lang="en-GB" dirty="0"/>
              <a:t>05	React	19.2.0	</a:t>
            </a:r>
          </a:p>
          <a:p>
            <a:r>
              <a:rPr lang="en-GB" dirty="0"/>
              <a:t>06	Vite	10.9.2	</a:t>
            </a:r>
          </a:p>
          <a:p>
            <a:r>
              <a:rPr lang="en-GB" dirty="0"/>
              <a:t>07	Node.js	22.16.0	</a:t>
            </a:r>
          </a:p>
          <a:p>
            <a:r>
              <a:rPr lang="en-GB" dirty="0"/>
              <a:t>08	PostgreSQL	17	</a:t>
            </a:r>
          </a:p>
          <a:p>
            <a:r>
              <a:rPr lang="en-GB" dirty="0"/>
              <a:t>09	</a:t>
            </a:r>
            <a:r>
              <a:rPr lang="en-GB" dirty="0" err="1"/>
              <a:t>Paypal</a:t>
            </a:r>
            <a:r>
              <a:rPr lang="en-GB" dirty="0"/>
              <a:t>	8.9.2	</a:t>
            </a:r>
          </a:p>
          <a:p>
            <a:r>
              <a:rPr lang="en-GB" dirty="0"/>
              <a:t>10	Full calendar	6.1.20	</a:t>
            </a:r>
          </a:p>
          <a:p>
            <a:r>
              <a:rPr lang="en-GB" dirty="0"/>
              <a:t>11	Render	- hosting </a:t>
            </a:r>
            <a:r>
              <a:rPr lang="en-GB" dirty="0" err="1"/>
              <a:t>alat</a:t>
            </a:r>
            <a:endParaRPr lang="en-GB" dirty="0"/>
          </a:p>
          <a:p>
            <a:r>
              <a:rPr lang="en-GB" dirty="0"/>
              <a:t>12	jest – </a:t>
            </a:r>
            <a:r>
              <a:rPr lang="en-GB" dirty="0" err="1"/>
              <a:t>alat</a:t>
            </a:r>
            <a:r>
              <a:rPr lang="en-GB" dirty="0"/>
              <a:t> za </a:t>
            </a:r>
            <a:r>
              <a:rPr lang="en-GB" dirty="0" err="1"/>
              <a:t>ispitivanje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36B1AB-3CCD-9A9A-74B6-FDEB7940F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11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6976151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DEDD2-9D0B-4B61-FDAE-513787AAA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Korišteni alati i tehnologije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F8CC55-EA41-7E49-69AF-AD9C474D2B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 err="1"/>
              <a:t>Komunikacija</a:t>
            </a:r>
            <a:endParaRPr lang="en-GB" dirty="0"/>
          </a:p>
          <a:p>
            <a:r>
              <a:rPr lang="en-GB" dirty="0"/>
              <a:t>13 Discord</a:t>
            </a:r>
          </a:p>
          <a:p>
            <a:r>
              <a:rPr lang="en-GB" dirty="0"/>
              <a:t>14 WhatsApp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 err="1"/>
              <a:t>Smještaj</a:t>
            </a:r>
            <a:endParaRPr lang="en-GB" dirty="0"/>
          </a:p>
          <a:p>
            <a:r>
              <a:rPr lang="en-GB" dirty="0">
                <a:hlinkClick r:id="rId2" tooltip="https://padelprojectfrontend.onrender.com/"/>
              </a:rPr>
              <a:t>https://padelprojectfrontend.onrender.com/</a:t>
            </a: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B5F42D-04ED-1233-2D5E-1C4649A63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12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7411492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92FC0-0545-74C9-4BE7-F83C9DE89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Organizacija</a:t>
            </a:r>
            <a:r>
              <a:rPr lang="en-GB" dirty="0"/>
              <a:t> rada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0A4447-FBF8-07DD-16AC-82427AF03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/>
              <a:t>Komunikacija</a:t>
            </a:r>
            <a:r>
              <a:rPr lang="en-GB" dirty="0"/>
              <a:t> </a:t>
            </a:r>
            <a:r>
              <a:rPr lang="en-GB" dirty="0" err="1"/>
              <a:t>većinom</a:t>
            </a:r>
            <a:r>
              <a:rPr lang="en-GB" dirty="0"/>
              <a:t> </a:t>
            </a:r>
            <a:r>
              <a:rPr lang="en-GB" dirty="0" err="1"/>
              <a:t>preko</a:t>
            </a:r>
            <a:r>
              <a:rPr lang="en-GB" dirty="0"/>
              <a:t> </a:t>
            </a:r>
            <a:r>
              <a:rPr lang="en-GB" dirty="0" err="1"/>
              <a:t>WhatsAppa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/>
              <a:t> </a:t>
            </a:r>
            <a:r>
              <a:rPr lang="en-GB" dirty="0" err="1"/>
              <a:t>Discorda</a:t>
            </a:r>
            <a:endParaRPr lang="en-GB" dirty="0"/>
          </a:p>
          <a:p>
            <a:r>
              <a:rPr lang="en-GB" dirty="0" err="1"/>
              <a:t>Github</a:t>
            </a:r>
            <a:r>
              <a:rPr lang="en-GB" dirty="0"/>
              <a:t> </a:t>
            </a:r>
            <a:r>
              <a:rPr lang="en-GB" dirty="0" err="1"/>
              <a:t>koristan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/>
              <a:t> </a:t>
            </a:r>
            <a:r>
              <a:rPr lang="en-GB" dirty="0" err="1"/>
              <a:t>poprilično</a:t>
            </a:r>
            <a:r>
              <a:rPr lang="en-GB" dirty="0"/>
              <a:t> </a:t>
            </a:r>
            <a:r>
              <a:rPr lang="en-GB" dirty="0" err="1"/>
              <a:t>jednostavan</a:t>
            </a:r>
            <a:r>
              <a:rPr lang="en-GB" dirty="0"/>
              <a:t> za </a:t>
            </a:r>
            <a:r>
              <a:rPr lang="en-GB" dirty="0" err="1"/>
              <a:t>korištenje</a:t>
            </a:r>
            <a:r>
              <a:rPr lang="en-GB" dirty="0"/>
              <a:t>, </a:t>
            </a:r>
            <a:r>
              <a:rPr lang="en-GB" dirty="0" err="1"/>
              <a:t>malo</a:t>
            </a:r>
            <a:r>
              <a:rPr lang="en-GB" dirty="0"/>
              <a:t> </a:t>
            </a:r>
            <a:r>
              <a:rPr lang="en-GB" dirty="0" err="1"/>
              <a:t>konflikata</a:t>
            </a:r>
            <a:endParaRPr lang="en-GB" dirty="0"/>
          </a:p>
          <a:p>
            <a:r>
              <a:rPr lang="en-GB" dirty="0" err="1"/>
              <a:t>Primjenjen</a:t>
            </a:r>
            <a:r>
              <a:rPr lang="en-GB" dirty="0"/>
              <a:t> ad-hoc model </a:t>
            </a:r>
            <a:r>
              <a:rPr lang="en-GB" dirty="0" err="1"/>
              <a:t>životnog</a:t>
            </a:r>
            <a:r>
              <a:rPr lang="en-GB" dirty="0"/>
              <a:t> </a:t>
            </a:r>
            <a:r>
              <a:rPr lang="en-GB" dirty="0" err="1"/>
              <a:t>ciklusa</a:t>
            </a:r>
            <a:r>
              <a:rPr lang="en-GB" dirty="0"/>
              <a:t>, </a:t>
            </a:r>
            <a:r>
              <a:rPr lang="en-GB" dirty="0" err="1"/>
              <a:t>malo</a:t>
            </a:r>
            <a:r>
              <a:rPr lang="en-GB" dirty="0"/>
              <a:t> po </a:t>
            </a:r>
            <a:r>
              <a:rPr lang="en-GB" dirty="0" err="1"/>
              <a:t>malo</a:t>
            </a:r>
            <a:r>
              <a:rPr lang="en-GB" dirty="0"/>
              <a:t> </a:t>
            </a:r>
            <a:r>
              <a:rPr lang="en-GB" dirty="0" err="1"/>
              <a:t>smo</a:t>
            </a:r>
            <a:r>
              <a:rPr lang="en-GB" dirty="0"/>
              <a:t> </a:t>
            </a:r>
            <a:r>
              <a:rPr lang="en-GB" dirty="0" err="1"/>
              <a:t>odrađivali</a:t>
            </a:r>
            <a:r>
              <a:rPr lang="en-GB" dirty="0"/>
              <a:t> </a:t>
            </a:r>
            <a:r>
              <a:rPr lang="en-GB" dirty="0" err="1"/>
              <a:t>svako</a:t>
            </a:r>
            <a:r>
              <a:rPr lang="en-GB" dirty="0"/>
              <a:t> </a:t>
            </a:r>
            <a:r>
              <a:rPr lang="en-GB" dirty="0" err="1"/>
              <a:t>područje</a:t>
            </a:r>
            <a:endParaRPr lang="en-GB" dirty="0"/>
          </a:p>
          <a:p>
            <a:endParaRPr lang="en-GB" dirty="0"/>
          </a:p>
          <a:p>
            <a:r>
              <a:rPr lang="en-GB" dirty="0" err="1"/>
              <a:t>Specifikacija</a:t>
            </a:r>
            <a:r>
              <a:rPr lang="en-GB" dirty="0"/>
              <a:t>: 10h</a:t>
            </a:r>
          </a:p>
          <a:p>
            <a:r>
              <a:rPr lang="en-GB" dirty="0" err="1"/>
              <a:t>Implementacija</a:t>
            </a:r>
            <a:r>
              <a:rPr lang="en-GB" dirty="0"/>
              <a:t>: 70h</a:t>
            </a:r>
          </a:p>
          <a:p>
            <a:r>
              <a:rPr lang="en-GB" dirty="0" err="1"/>
              <a:t>Testiranje</a:t>
            </a:r>
            <a:r>
              <a:rPr lang="en-GB" dirty="0"/>
              <a:t>: 6h</a:t>
            </a:r>
          </a:p>
          <a:p>
            <a:r>
              <a:rPr lang="en-GB" dirty="0" err="1"/>
              <a:t>Dokumentacija</a:t>
            </a:r>
            <a:r>
              <a:rPr lang="en-GB" dirty="0"/>
              <a:t>: 30h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F2039-7AB7-4361-1463-88A25CE38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13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2329918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1DDC3EF6-2EA5-44B3-94C7-9DDA67A12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457200"/>
            <a:ext cx="277749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7925A9A-E9FA-496E-9C09-7C2845E006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31610" y="453643"/>
            <a:ext cx="277749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073ABB4-E164-4CBF-ADFF-25552BB79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81372" y="457200"/>
            <a:ext cx="277749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87D26DA-9773-4A0E-B213-DDF20A1F1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5DA56E8-C9C1-7339-2CBE-66DB91C87F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46865" y="0"/>
            <a:ext cx="5450269" cy="687731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8ADF4A-AC09-5E0C-B7E0-F794E3ADA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18725" y="6423914"/>
            <a:ext cx="789382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FAA41844-C0CA-4144-9D6C-D993F0C0FAB4}" type="slidenum">
              <a:rPr lang="en-US" sz="900" smtClean="0"/>
              <a:pPr>
                <a:spcAft>
                  <a:spcPts val="600"/>
                </a:spcAft>
              </a:pPr>
              <a:t>14</a:t>
            </a:fld>
            <a:endParaRPr lang="en-US" sz="90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C935F99-85F2-A711-53D0-3D0BC8C9C4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4200" y="0"/>
            <a:ext cx="543401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04842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9CBA8-11D5-D65F-3F83-F59F385AC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Demonstracija aplikacije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ADC07-223F-0954-0AAD-901A9AD833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/>
              <a:t>Pokazati ključne funkcionalnosti uživo.</a:t>
            </a:r>
          </a:p>
          <a:p>
            <a:r>
              <a:rPr lang="hr-HR" dirty="0"/>
              <a:t>Fokus na izazove i rješenja (1-2 primjera).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76D2D5-F8F8-3548-34C0-61BDD7AAE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15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2086029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Zaključak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Bilo je dobro </a:t>
            </a:r>
            <a:r>
              <a:rPr lang="en-GB" dirty="0" err="1"/>
              <a:t>raditi</a:t>
            </a:r>
            <a:r>
              <a:rPr lang="en-GB" dirty="0"/>
              <a:t> u </a:t>
            </a:r>
            <a:r>
              <a:rPr lang="en-GB" dirty="0" err="1"/>
              <a:t>timu</a:t>
            </a:r>
            <a:r>
              <a:rPr lang="en-GB" dirty="0"/>
              <a:t> </a:t>
            </a:r>
            <a:r>
              <a:rPr lang="en-GB" dirty="0" err="1"/>
              <a:t>na</a:t>
            </a:r>
            <a:r>
              <a:rPr lang="en-GB" dirty="0"/>
              <a:t> </a:t>
            </a:r>
            <a:r>
              <a:rPr lang="en-GB" dirty="0" err="1"/>
              <a:t>zajedničkom</a:t>
            </a:r>
            <a:r>
              <a:rPr lang="en-GB" dirty="0"/>
              <a:t> </a:t>
            </a:r>
            <a:r>
              <a:rPr lang="en-GB" dirty="0" err="1"/>
              <a:t>projektu</a:t>
            </a:r>
            <a:r>
              <a:rPr lang="en-GB" dirty="0"/>
              <a:t>, </a:t>
            </a:r>
            <a:r>
              <a:rPr lang="en-GB" dirty="0" err="1"/>
              <a:t>naučili</a:t>
            </a:r>
            <a:r>
              <a:rPr lang="en-GB" dirty="0"/>
              <a:t> </a:t>
            </a:r>
            <a:r>
              <a:rPr lang="en-GB" dirty="0" err="1"/>
              <a:t>smo</a:t>
            </a:r>
            <a:r>
              <a:rPr lang="en-GB" dirty="0"/>
              <a:t> </a:t>
            </a:r>
            <a:r>
              <a:rPr lang="en-GB" dirty="0" err="1"/>
              <a:t>nove</a:t>
            </a:r>
            <a:r>
              <a:rPr lang="en-GB" dirty="0"/>
              <a:t> </a:t>
            </a:r>
            <a:r>
              <a:rPr lang="en-GB" dirty="0" err="1"/>
              <a:t>stvari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/>
              <a:t> </a:t>
            </a:r>
            <a:r>
              <a:rPr lang="en-GB" dirty="0" err="1"/>
              <a:t>produbili</a:t>
            </a:r>
            <a:r>
              <a:rPr lang="en-GB" dirty="0"/>
              <a:t> </a:t>
            </a:r>
            <a:r>
              <a:rPr lang="en-GB" dirty="0" err="1"/>
              <a:t>svoje</a:t>
            </a:r>
            <a:r>
              <a:rPr lang="en-GB" dirty="0"/>
              <a:t> </a:t>
            </a:r>
            <a:r>
              <a:rPr lang="en-GB" dirty="0" err="1"/>
              <a:t>znanje</a:t>
            </a:r>
            <a:r>
              <a:rPr lang="en-GB" dirty="0"/>
              <a:t> u </a:t>
            </a:r>
            <a:r>
              <a:rPr lang="en-GB" dirty="0" err="1"/>
              <a:t>programiranju</a:t>
            </a:r>
            <a:r>
              <a:rPr lang="en-GB" dirty="0"/>
              <a:t>, </a:t>
            </a:r>
            <a:r>
              <a:rPr lang="en-GB" dirty="0" err="1"/>
              <a:t>ali</a:t>
            </a:r>
            <a:r>
              <a:rPr lang="en-GB" dirty="0"/>
              <a:t> </a:t>
            </a:r>
            <a:r>
              <a:rPr lang="en-GB" dirty="0" err="1"/>
              <a:t>mogli</a:t>
            </a:r>
            <a:r>
              <a:rPr lang="en-GB" dirty="0"/>
              <a:t> </a:t>
            </a:r>
            <a:r>
              <a:rPr lang="en-GB" dirty="0" err="1"/>
              <a:t>smo</a:t>
            </a:r>
            <a:r>
              <a:rPr lang="en-GB" dirty="0"/>
              <a:t> se </a:t>
            </a:r>
            <a:r>
              <a:rPr lang="en-GB" dirty="0" err="1"/>
              <a:t>bolje</a:t>
            </a:r>
            <a:r>
              <a:rPr lang="en-GB" dirty="0"/>
              <a:t> </a:t>
            </a:r>
            <a:r>
              <a:rPr lang="en-GB" dirty="0" err="1"/>
              <a:t>organizirati</a:t>
            </a:r>
            <a:r>
              <a:rPr lang="en-GB" dirty="0"/>
              <a:t>. Ne </a:t>
            </a:r>
            <a:r>
              <a:rPr lang="en-GB" dirty="0" err="1"/>
              <a:t>bismo</a:t>
            </a:r>
            <a:r>
              <a:rPr lang="en-GB" dirty="0"/>
              <a:t> </a:t>
            </a:r>
            <a:r>
              <a:rPr lang="en-GB" dirty="0" err="1"/>
              <a:t>htjeli</a:t>
            </a:r>
            <a:r>
              <a:rPr lang="en-GB" dirty="0"/>
              <a:t> da se </a:t>
            </a:r>
            <a:r>
              <a:rPr lang="en-GB" dirty="0" err="1"/>
              <a:t>ponove</a:t>
            </a:r>
            <a:r>
              <a:rPr lang="en-GB" dirty="0"/>
              <a:t> </a:t>
            </a:r>
            <a:r>
              <a:rPr lang="en-GB" dirty="0" err="1"/>
              <a:t>problemi</a:t>
            </a:r>
            <a:r>
              <a:rPr lang="en-GB" dirty="0"/>
              <a:t> s </a:t>
            </a:r>
            <a:r>
              <a:rPr lang="en-GB" dirty="0" err="1"/>
              <a:t>hostingom</a:t>
            </a:r>
            <a:r>
              <a:rPr lang="en-GB" dirty="0"/>
              <a:t>.</a:t>
            </a:r>
            <a:endParaRPr lang="hr-HR" dirty="0"/>
          </a:p>
          <a:p>
            <a:endParaRPr lang="hr-HR" noProof="0" dirty="0">
              <a:sym typeface="Wingdings" panose="05000000000000000000" pitchFamily="2" charset="2"/>
            </a:endParaRPr>
          </a:p>
          <a:p>
            <a:pPr lvl="1"/>
            <a:endParaRPr lang="hr-HR" noProof="0" dirty="0">
              <a:sym typeface="Wingdings" panose="05000000000000000000" pitchFamily="2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16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82593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i="1" noProof="0" dirty="0"/>
              <a:t>Nekoliko savjeta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r-HR" noProof="0" dirty="0"/>
              <a:t>10-15 slajdova je sasvim dovoljno – istaknite samo najvažnije činjenice</a:t>
            </a:r>
          </a:p>
          <a:p>
            <a:r>
              <a:rPr lang="hr-HR" noProof="0" dirty="0"/>
              <a:t>Prezentaciju možete grafički urediti prema svojem nahođenju uz ograničenja:</a:t>
            </a:r>
          </a:p>
          <a:p>
            <a:pPr lvl="1"/>
            <a:r>
              <a:rPr lang="hr-HR" noProof="0" dirty="0"/>
              <a:t>Obavezan sadržaj naslovne stranice</a:t>
            </a:r>
          </a:p>
          <a:p>
            <a:pPr lvl="1"/>
            <a:r>
              <a:rPr lang="hr-HR" noProof="0" dirty="0"/>
              <a:t>Obavezni brojevi stranica</a:t>
            </a:r>
          </a:p>
          <a:p>
            <a:r>
              <a:rPr lang="hr-HR" b="1" noProof="0" dirty="0"/>
              <a:t>Priprema izlaganja na satu:</a:t>
            </a:r>
          </a:p>
          <a:p>
            <a:pPr lvl="1"/>
            <a:r>
              <a:rPr lang="hr-HR" noProof="0" dirty="0"/>
              <a:t>Pokrenite sve potrebne programe i alate na računalu prije početka Vašeg izlaganja te provjerite kompatibilnost opreme!</a:t>
            </a:r>
          </a:p>
          <a:p>
            <a:pPr lvl="2"/>
            <a:r>
              <a:rPr lang="hr-HR" dirty="0"/>
              <a:t>Standardni HDMI priključak. Eduraom.</a:t>
            </a:r>
            <a:endParaRPr lang="hr-HR" noProof="0" dirty="0"/>
          </a:p>
          <a:p>
            <a:pPr lvl="1"/>
            <a:r>
              <a:rPr lang="pl-PL" dirty="0"/>
              <a:t>Vježbati izlaganje u 15 minuta.</a:t>
            </a:r>
          </a:p>
          <a:p>
            <a:pPr lvl="1"/>
            <a:r>
              <a:rPr lang="hr-HR" b="1" noProof="0" dirty="0"/>
              <a:t>Poštujte zadani vremenski okvir!</a:t>
            </a:r>
          </a:p>
          <a:p>
            <a:endParaRPr lang="hr-HR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17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641737146"/>
      </p:ext>
    </p:extLst>
  </p:cSld>
  <p:clrMapOvr>
    <a:masterClrMapping/>
  </p:clrMapOvr>
</p:sld>
</file>

<file path=ppt/theme/theme1.xml><?xml version="1.0" encoding="utf-8"?>
<a:theme xmlns:a="http://schemas.openxmlformats.org/drawingml/2006/main" name="PROGI-templat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Century Gothic"/>
        <a:ea typeface=""/>
        <a:cs typeface=""/>
      </a:majorFont>
      <a:minorFont>
        <a:latin typeface="Franklin Gothic Book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OGI-template.potm" id="{58E78474-FDB4-4359-98C4-259EEF8E4D43}" vid="{A98D19B1-8675-4930-BF13-63F2BBFA5E37}"/>
    </a:ext>
  </a:extLst>
</a:theme>
</file>

<file path=ppt/theme/theme2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01_Uvod_19-1</Template>
  <TotalTime>1427</TotalTime>
  <Words>575</Words>
  <Application>Microsoft Office PowerPoint</Application>
  <PresentationFormat>On-screen Show (4:3)</PresentationFormat>
  <Paragraphs>127</Paragraphs>
  <Slides>17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31" baseType="lpstr">
      <vt:lpstr>ＭＳ Ｐゴシック</vt:lpstr>
      <vt:lpstr>Arial</vt:lpstr>
      <vt:lpstr>Calibri</vt:lpstr>
      <vt:lpstr>Century Gothic</vt:lpstr>
      <vt:lpstr>Courier New</vt:lpstr>
      <vt:lpstr>Franklin Gothic Book</vt:lpstr>
      <vt:lpstr>Franklin Gothic Demi</vt:lpstr>
      <vt:lpstr>Franklin Gothic Medium</vt:lpstr>
      <vt:lpstr>Tahoma</vt:lpstr>
      <vt:lpstr>Times New Roman</vt:lpstr>
      <vt:lpstr>Wingdings</vt:lpstr>
      <vt:lpstr>Wingdings 2</vt:lpstr>
      <vt:lpstr>PROGI-template</vt:lpstr>
      <vt:lpstr>DividendVTI</vt:lpstr>
      <vt:lpstr>Padel Time</vt:lpstr>
      <vt:lpstr>Sadržaj</vt:lpstr>
      <vt:lpstr>Sadržaj</vt:lpstr>
      <vt:lpstr>Članovi grupe</vt:lpstr>
      <vt:lpstr>O projektu</vt:lpstr>
      <vt:lpstr>PREGLED ZAHTJEVA</vt:lpstr>
      <vt:lpstr>Pregled zahtjeva</vt:lpstr>
      <vt:lpstr>UML dijagram obrazaca uporabe</vt:lpstr>
      <vt:lpstr>Arhitektura sustava</vt:lpstr>
      <vt:lpstr>Ispitivanje</vt:lpstr>
      <vt:lpstr>Korišteni alati i tehnologije</vt:lpstr>
      <vt:lpstr>Korišteni alati i tehnologije</vt:lpstr>
      <vt:lpstr>Organizacija rada</vt:lpstr>
      <vt:lpstr>PowerPoint Presentation</vt:lpstr>
      <vt:lpstr>Demonstracija aplikacije</vt:lpstr>
      <vt:lpstr>Zaključak</vt:lpstr>
      <vt:lpstr>Nekoliko savjeta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&lt;Naziv projekta&gt;</dc:title>
  <dc:creator>nfrid</dc:creator>
  <cp:lastModifiedBy>antonio g</cp:lastModifiedBy>
  <cp:revision>24</cp:revision>
  <dcterms:created xsi:type="dcterms:W3CDTF">2016-01-18T13:10:52Z</dcterms:created>
  <dcterms:modified xsi:type="dcterms:W3CDTF">2026-01-23T21:53:09Z</dcterms:modified>
</cp:coreProperties>
</file>